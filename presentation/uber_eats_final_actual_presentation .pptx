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58368"/>
            <a:ext cx="9144000" cy="274320"/>
          </a:xfrm>
          <a:prstGeom prst="rect">
            <a:avLst/>
          </a:prstGeom>
          <a:noFill/>
        </p:spPr>
        <p:txBody>
          <a:bodyPr wrap="square" lIns="36576" rIns="36576" tIns="36576" bIns="36576">
            <a:spAutoFit/>
          </a:bodyPr>
          <a:lstStyle/>
          <a:p>
            <a:pPr>
              <a:spcAft>
                <a:spcPts val="700"/>
              </a:spcAft>
              <a:defRPr sz="1100" b="1">
                <a:solidFill>
                  <a:srgbClr val="19B0A0"/>
                </a:solidFill>
                <a:latin typeface="Aptos"/>
              </a:defRPr>
            </a:pPr>
            <a:r>
              <a:t>FINAL CAPSTONE PRESENTATION  |  DAY 7</a:t>
            </a:r>
          </a:p>
        </p:txBody>
      </p:sp>
      <p:sp>
        <p:nvSpPr>
          <p:cNvPr id="4" name="TextBox 3"/>
          <p:cNvSpPr txBox="1"/>
          <p:nvPr/>
        </p:nvSpPr>
        <p:spPr>
          <a:xfrm>
            <a:off x="777240" y="1417320"/>
            <a:ext cx="10332720" cy="1325880"/>
          </a:xfrm>
          <a:prstGeom prst="rect">
            <a:avLst/>
          </a:prstGeom>
          <a:noFill/>
        </p:spPr>
        <p:txBody>
          <a:bodyPr wrap="square" lIns="36576" rIns="36576" tIns="36576" bIns="36576">
            <a:spAutoFit/>
          </a:bodyPr>
          <a:lstStyle/>
          <a:p>
            <a:pPr>
              <a:spcAft>
                <a:spcPts val="700"/>
              </a:spcAft>
              <a:defRPr sz="3400" b="1">
                <a:solidFill>
                  <a:srgbClr val="F8FAFC"/>
                </a:solidFill>
                <a:latin typeface="Aptos"/>
              </a:defRPr>
            </a:pPr>
            <a:r>
              <a:t>Uber Eats</a:t>
            </a:r>
          </a:p>
          <a:p>
            <a:pPr>
              <a:spcAft>
                <a:spcPts val="700"/>
              </a:spcAft>
              <a:defRPr sz="3400" b="1">
                <a:solidFill>
                  <a:srgbClr val="F8FAFC"/>
                </a:solidFill>
                <a:latin typeface="Aptos"/>
              </a:defRPr>
            </a:pPr>
            <a:r>
              <a:t>Operational &amp; Customer Intelligence</a:t>
            </a:r>
          </a:p>
        </p:txBody>
      </p:sp>
      <p:sp>
        <p:nvSpPr>
          <p:cNvPr id="5" name="TextBox 4"/>
          <p:cNvSpPr txBox="1"/>
          <p:nvPr/>
        </p:nvSpPr>
        <p:spPr>
          <a:xfrm>
            <a:off x="822960" y="3154680"/>
            <a:ext cx="9875520" cy="777240"/>
          </a:xfrm>
          <a:prstGeom prst="rect">
            <a:avLst/>
          </a:prstGeom>
          <a:noFill/>
        </p:spPr>
        <p:txBody>
          <a:bodyPr wrap="square" lIns="36576" rIns="36576" tIns="36576" bIns="36576">
            <a:spAutoFit/>
          </a:bodyPr>
          <a:lstStyle/>
          <a:p>
            <a:pPr>
              <a:spcAft>
                <a:spcPts val="700"/>
              </a:spcAft>
              <a:defRPr sz="1700" b="0">
                <a:solidFill>
                  <a:srgbClr val="AEBECF"/>
                </a:solidFill>
                <a:latin typeface="Aptos"/>
              </a:defRPr>
            </a:pPr>
            <a:r>
              <a:t>Segmentation • Sentiment Analysis • Delivery-Time Prediction • Demand Forecasting</a:t>
            </a:r>
          </a:p>
        </p:txBody>
      </p:sp>
      <p:sp>
        <p:nvSpPr>
          <p:cNvPr id="6" name="Rectangle 5"/>
          <p:cNvSpPr/>
          <p:nvPr/>
        </p:nvSpPr>
        <p:spPr>
          <a:xfrm>
            <a:off x="822960" y="4251960"/>
            <a:ext cx="1828800" cy="54864"/>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617720"/>
            <a:ext cx="8229600" cy="594360"/>
          </a:xfrm>
          <a:prstGeom prst="rect">
            <a:avLst/>
          </a:prstGeom>
          <a:noFill/>
        </p:spPr>
        <p:txBody>
          <a:bodyPr wrap="square" lIns="36576" rIns="36576" tIns="36576" bIns="36576">
            <a:spAutoFit/>
          </a:bodyPr>
          <a:lstStyle/>
          <a:p>
            <a:pPr>
              <a:spcAft>
                <a:spcPts val="700"/>
              </a:spcAft>
              <a:defRPr sz="1300" b="0">
                <a:solidFill>
                  <a:srgbClr val="F8FAFC"/>
                </a:solidFill>
                <a:latin typeface="Aptos"/>
              </a:defRPr>
            </a:pPr>
            <a:r>
              <a:t>Presented by: Hari Hara Chowdary</a:t>
            </a:r>
            <a:br/>
            <a:r>
              <a:t>Trainee Data Analyst</a:t>
            </a:r>
          </a:p>
        </p:txBody>
      </p:sp>
      <p:sp>
        <p:nvSpPr>
          <p:cNvPr id="8" name="TextBox 7"/>
          <p:cNvSpPr txBox="1"/>
          <p:nvPr/>
        </p:nvSpPr>
        <p:spPr>
          <a:xfrm>
            <a:off x="822960" y="6309360"/>
            <a:ext cx="9144000" cy="182880"/>
          </a:xfrm>
          <a:prstGeom prst="rect">
            <a:avLst/>
          </a:prstGeom>
          <a:noFill/>
        </p:spPr>
        <p:txBody>
          <a:bodyPr wrap="square" lIns="36576" rIns="36576" tIns="36576" bIns="36576">
            <a:spAutoFit/>
          </a:bodyPr>
          <a:lstStyle/>
          <a:p>
            <a:pPr>
              <a:spcAft>
                <a:spcPts val="700"/>
              </a:spcAft>
              <a:defRPr sz="900" b="0">
                <a:solidFill>
                  <a:srgbClr val="AEBECF"/>
                </a:solidFill>
                <a:latin typeface="Aptos"/>
              </a:defRPr>
            </a:pPr>
            <a:r>
              <a:t>A machine-learning demonstration built on synthetic project datasets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28600"/>
          </a:xfrm>
          <a:prstGeom prst="rect">
            <a:avLst/>
          </a:prstGeom>
          <a:noFill/>
        </p:spPr>
        <p:txBody>
          <a:bodyPr wrap="square" lIns="36576" rIns="36576" tIns="36576" bIns="36576">
            <a:spAutoFit/>
          </a:bodyPr>
          <a:lstStyle/>
          <a:p>
            <a:pPr>
              <a:spcAft>
                <a:spcPts val="700"/>
              </a:spcAft>
              <a:defRPr sz="900" b="1">
                <a:solidFill>
                  <a:srgbClr val="19B0A0"/>
                </a:solidFill>
                <a:latin typeface="Aptos"/>
              </a:defRPr>
            </a:pPr>
            <a:r>
              <a:t>UBER EATS • CAPSTONE</a:t>
            </a:r>
          </a:p>
        </p:txBody>
      </p:sp>
      <p:sp>
        <p:nvSpPr>
          <p:cNvPr id="4" name="TextBox 3"/>
          <p:cNvSpPr txBox="1"/>
          <p:nvPr/>
        </p:nvSpPr>
        <p:spPr>
          <a:xfrm>
            <a:off x="502920" y="566928"/>
            <a:ext cx="11155680" cy="566928"/>
          </a:xfrm>
          <a:prstGeom prst="rect">
            <a:avLst/>
          </a:prstGeom>
          <a:noFill/>
        </p:spPr>
        <p:txBody>
          <a:bodyPr wrap="square" lIns="36576" rIns="36576" tIns="36576" bIns="36576">
            <a:spAutoFit/>
          </a:bodyPr>
          <a:lstStyle/>
          <a:p>
            <a:pPr>
              <a:spcAft>
                <a:spcPts val="700"/>
              </a:spcAft>
              <a:defRPr sz="2600" b="1">
                <a:solidFill>
                  <a:srgbClr val="0D1B2E"/>
                </a:solidFill>
                <a:latin typeface="Aptos"/>
              </a:defRPr>
            </a:pPr>
            <a:r>
              <a:t>Executive summary: four analytical workstreams</a:t>
            </a:r>
          </a:p>
        </p:txBody>
      </p:sp>
      <p:sp>
        <p:nvSpPr>
          <p:cNvPr id="5" name="Rectangle 4"/>
          <p:cNvSpPr/>
          <p:nvPr/>
        </p:nvSpPr>
        <p:spPr>
          <a:xfrm>
            <a:off x="502920" y="1234440"/>
            <a:ext cx="11155680" cy="13716"/>
          </a:xfrm>
          <a:prstGeom prst="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64592"/>
          </a:xfrm>
          <a:prstGeom prst="rect">
            <a:avLst/>
          </a:prstGeom>
          <a:noFill/>
        </p:spPr>
        <p:txBody>
          <a:bodyPr wrap="square" lIns="36576" rIns="36576" tIns="36576" bIns="36576">
            <a:spAutoFit/>
          </a:bodyPr>
          <a:lstStyle/>
          <a:p>
            <a:pPr>
              <a:spcAft>
                <a:spcPts val="700"/>
              </a:spcAft>
              <a:defRPr sz="800" b="0">
                <a:solidFill>
                  <a:srgbClr val="AEBECF"/>
                </a:solidFill>
                <a:latin typeface="Aptos"/>
              </a:defRPr>
            </a:pPr>
            <a:r>
              <a:t>Synthetic demonstration data • Results from supplied project outputs</a:t>
            </a:r>
          </a:p>
        </p:txBody>
      </p:sp>
      <p:sp>
        <p:nvSpPr>
          <p:cNvPr id="7" name="TextBox 6"/>
          <p:cNvSpPr txBox="1"/>
          <p:nvPr/>
        </p:nvSpPr>
        <p:spPr>
          <a:xfrm>
            <a:off x="11064240" y="6473952"/>
            <a:ext cx="594360" cy="182880"/>
          </a:xfrm>
          <a:prstGeom prst="rect">
            <a:avLst/>
          </a:prstGeom>
          <a:noFill/>
        </p:spPr>
        <p:txBody>
          <a:bodyPr wrap="square" lIns="36576" rIns="36576" tIns="36576" bIns="36576">
            <a:spAutoFit/>
          </a:bodyPr>
          <a:lstStyle/>
          <a:p>
            <a:pPr algn="r">
              <a:spcAft>
                <a:spcPts val="700"/>
              </a:spcAft>
              <a:defRPr sz="900" b="1">
                <a:solidFill>
                  <a:srgbClr val="AEBECF"/>
                </a:solidFill>
                <a:latin typeface="Aptos"/>
              </a:defRPr>
            </a:pPr>
            <a:r>
              <a:t>02</a:t>
            </a:r>
          </a:p>
        </p:txBody>
      </p:sp>
      <p:sp>
        <p:nvSpPr>
          <p:cNvPr id="8" name="Rounded Rectangle 7"/>
          <p:cNvSpPr/>
          <p:nvPr/>
        </p:nvSpPr>
        <p:spPr>
          <a:xfrm>
            <a:off x="594360" y="1508760"/>
            <a:ext cx="260604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18488"/>
            <a:ext cx="233172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SOURCE ORDERS</a:t>
            </a:r>
          </a:p>
        </p:txBody>
      </p:sp>
      <p:sp>
        <p:nvSpPr>
          <p:cNvPr id="10" name="TextBox 9"/>
          <p:cNvSpPr txBox="1"/>
          <p:nvPr/>
        </p:nvSpPr>
        <p:spPr>
          <a:xfrm>
            <a:off x="731520" y="1856231"/>
            <a:ext cx="233172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1,800</a:t>
            </a:r>
          </a:p>
        </p:txBody>
      </p:sp>
      <p:sp>
        <p:nvSpPr>
          <p:cNvPr id="11" name="TextBox 10"/>
          <p:cNvSpPr txBox="1"/>
          <p:nvPr/>
        </p:nvSpPr>
        <p:spPr>
          <a:xfrm>
            <a:off x="731520" y="2267712"/>
            <a:ext cx="233172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7 source tables</a:t>
            </a:r>
          </a:p>
        </p:txBody>
      </p:sp>
      <p:sp>
        <p:nvSpPr>
          <p:cNvPr id="12" name="Rounded Rectangle 11"/>
          <p:cNvSpPr/>
          <p:nvPr/>
        </p:nvSpPr>
        <p:spPr>
          <a:xfrm>
            <a:off x="3337560" y="1508760"/>
            <a:ext cx="260604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0" y="1618488"/>
            <a:ext cx="233172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CUSTOMER BASE</a:t>
            </a:r>
          </a:p>
        </p:txBody>
      </p:sp>
      <p:sp>
        <p:nvSpPr>
          <p:cNvPr id="14" name="TextBox 13"/>
          <p:cNvSpPr txBox="1"/>
          <p:nvPr/>
        </p:nvSpPr>
        <p:spPr>
          <a:xfrm>
            <a:off x="3474720" y="1856231"/>
            <a:ext cx="233172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300</a:t>
            </a:r>
          </a:p>
        </p:txBody>
      </p:sp>
      <p:sp>
        <p:nvSpPr>
          <p:cNvPr id="15" name="TextBox 14"/>
          <p:cNvSpPr txBox="1"/>
          <p:nvPr/>
        </p:nvSpPr>
        <p:spPr>
          <a:xfrm>
            <a:off x="3474720" y="2267712"/>
            <a:ext cx="233172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45 restaurants • 70 drivers</a:t>
            </a:r>
          </a:p>
        </p:txBody>
      </p:sp>
      <p:sp>
        <p:nvSpPr>
          <p:cNvPr id="16" name="Rounded Rectangle 15"/>
          <p:cNvSpPr/>
          <p:nvPr/>
        </p:nvSpPr>
        <p:spPr>
          <a:xfrm>
            <a:off x="6080760" y="1508760"/>
            <a:ext cx="260604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0" y="1618488"/>
            <a:ext cx="233172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REVIEWS ANALYSED</a:t>
            </a:r>
          </a:p>
        </p:txBody>
      </p:sp>
      <p:sp>
        <p:nvSpPr>
          <p:cNvPr id="18" name="TextBox 17"/>
          <p:cNvSpPr txBox="1"/>
          <p:nvPr/>
        </p:nvSpPr>
        <p:spPr>
          <a:xfrm>
            <a:off x="6217920" y="1856231"/>
            <a:ext cx="233172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1,147</a:t>
            </a:r>
          </a:p>
        </p:txBody>
      </p:sp>
      <p:sp>
        <p:nvSpPr>
          <p:cNvPr id="19" name="TextBox 18"/>
          <p:cNvSpPr txBox="1"/>
          <p:nvPr/>
        </p:nvSpPr>
        <p:spPr>
          <a:xfrm>
            <a:off x="6217920" y="2267712"/>
            <a:ext cx="233172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Average rating: 3.67 / 5</a:t>
            </a:r>
          </a:p>
        </p:txBody>
      </p:sp>
      <p:sp>
        <p:nvSpPr>
          <p:cNvPr id="20" name="Rounded Rectangle 19"/>
          <p:cNvSpPr/>
          <p:nvPr/>
        </p:nvSpPr>
        <p:spPr>
          <a:xfrm>
            <a:off x="8823960" y="1508760"/>
            <a:ext cx="260604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0" y="1618488"/>
            <a:ext cx="233172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COMPLETED DELIVERIES</a:t>
            </a:r>
          </a:p>
        </p:txBody>
      </p:sp>
      <p:sp>
        <p:nvSpPr>
          <p:cNvPr id="22" name="TextBox 21"/>
          <p:cNvSpPr txBox="1"/>
          <p:nvPr/>
        </p:nvSpPr>
        <p:spPr>
          <a:xfrm>
            <a:off x="8961120" y="1856231"/>
            <a:ext cx="233172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1,624</a:t>
            </a:r>
          </a:p>
        </p:txBody>
      </p:sp>
      <p:sp>
        <p:nvSpPr>
          <p:cNvPr id="23" name="TextBox 22"/>
          <p:cNvSpPr txBox="1"/>
          <p:nvPr/>
        </p:nvSpPr>
        <p:spPr>
          <a:xfrm>
            <a:off x="8961120" y="2267712"/>
            <a:ext cx="233172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Of 1,800 delivery records</a:t>
            </a:r>
          </a:p>
        </p:txBody>
      </p:sp>
      <p:sp>
        <p:nvSpPr>
          <p:cNvPr id="24" name="Rounded Rectangle 23"/>
          <p:cNvSpPr/>
          <p:nvPr/>
        </p:nvSpPr>
        <p:spPr>
          <a:xfrm>
            <a:off x="731520" y="3063240"/>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 y="2971800"/>
            <a:ext cx="10469880" cy="530352"/>
          </a:xfrm>
          <a:prstGeom prst="rect">
            <a:avLst/>
          </a:prstGeom>
          <a:noFill/>
        </p:spPr>
        <p:txBody>
          <a:bodyPr wrap="square" lIns="36576" rIns="36576" tIns="36576" bIns="36576">
            <a:spAutoFit/>
          </a:bodyPr>
          <a:lstStyle/>
          <a:p>
            <a:pPr>
              <a:spcAft>
                <a:spcPts val="700"/>
              </a:spcAft>
              <a:defRPr sz="1600" b="0">
                <a:solidFill>
                  <a:srgbClr val="1D2B3A"/>
                </a:solidFill>
                <a:latin typeface="Aptos"/>
              </a:defRPr>
            </a:pPr>
            <a:r>
              <a:t>Segmentation: 3 customer clusters and 3 restaurant clusters identified with K-Means.</a:t>
            </a:r>
          </a:p>
        </p:txBody>
      </p:sp>
      <p:sp>
        <p:nvSpPr>
          <p:cNvPr id="26" name="Rounded Rectangle 25"/>
          <p:cNvSpPr/>
          <p:nvPr/>
        </p:nvSpPr>
        <p:spPr>
          <a:xfrm>
            <a:off x="731520" y="3630168"/>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3538728"/>
            <a:ext cx="10469880" cy="530352"/>
          </a:xfrm>
          <a:prstGeom prst="rect">
            <a:avLst/>
          </a:prstGeom>
          <a:noFill/>
        </p:spPr>
        <p:txBody>
          <a:bodyPr wrap="square" lIns="36576" rIns="36576" tIns="36576" bIns="36576">
            <a:spAutoFit/>
          </a:bodyPr>
          <a:lstStyle/>
          <a:p>
            <a:pPr>
              <a:spcAft>
                <a:spcPts val="700"/>
              </a:spcAft>
              <a:defRPr sz="1600" b="0">
                <a:solidFill>
                  <a:srgbClr val="1D2B3A"/>
                </a:solidFill>
                <a:latin typeface="Aptos"/>
              </a:defRPr>
            </a:pPr>
            <a:r>
              <a:t>Delivery-time model: Ridge achieved 3.94-minute test MAE and R² = 0.906.</a:t>
            </a:r>
          </a:p>
        </p:txBody>
      </p:sp>
      <p:sp>
        <p:nvSpPr>
          <p:cNvPr id="28" name="Rounded Rectangle 27"/>
          <p:cNvSpPr/>
          <p:nvPr/>
        </p:nvSpPr>
        <p:spPr>
          <a:xfrm>
            <a:off x="731520" y="4197096"/>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1832" y="4105656"/>
            <a:ext cx="10469880" cy="530352"/>
          </a:xfrm>
          <a:prstGeom prst="rect">
            <a:avLst/>
          </a:prstGeom>
          <a:noFill/>
        </p:spPr>
        <p:txBody>
          <a:bodyPr wrap="square" lIns="36576" rIns="36576" tIns="36576" bIns="36576">
            <a:spAutoFit/>
          </a:bodyPr>
          <a:lstStyle/>
          <a:p>
            <a:pPr>
              <a:spcAft>
                <a:spcPts val="700"/>
              </a:spcAft>
              <a:defRPr sz="1600" b="0">
                <a:solidFill>
                  <a:srgbClr val="1D2B3A"/>
                </a:solidFill>
                <a:latin typeface="Aptos"/>
              </a:defRPr>
            </a:pPr>
            <a:r>
              <a:t>Sentiment: 59.8% positive, 28.5% neutral and 11.7% negative reviews.</a:t>
            </a:r>
          </a:p>
        </p:txBody>
      </p:sp>
      <p:sp>
        <p:nvSpPr>
          <p:cNvPr id="30" name="Rounded Rectangle 29"/>
          <p:cNvSpPr/>
          <p:nvPr/>
        </p:nvSpPr>
        <p:spPr>
          <a:xfrm>
            <a:off x="731520" y="4764023"/>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41832" y="4672583"/>
            <a:ext cx="10469880" cy="530352"/>
          </a:xfrm>
          <a:prstGeom prst="rect">
            <a:avLst/>
          </a:prstGeom>
          <a:noFill/>
        </p:spPr>
        <p:txBody>
          <a:bodyPr wrap="square" lIns="36576" rIns="36576" tIns="36576" bIns="36576">
            <a:spAutoFit/>
          </a:bodyPr>
          <a:lstStyle/>
          <a:p>
            <a:pPr>
              <a:spcAft>
                <a:spcPts val="700"/>
              </a:spcAft>
              <a:defRPr sz="1600" b="0">
                <a:solidFill>
                  <a:srgbClr val="1D2B3A"/>
                </a:solidFill>
                <a:latin typeface="Aptos"/>
              </a:defRPr>
            </a:pPr>
            <a:r>
              <a:t>Forecasting: ARIMA slightly outperformed Prophet, but both had high MAPE (~33–37%).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28600"/>
          </a:xfrm>
          <a:prstGeom prst="rect">
            <a:avLst/>
          </a:prstGeom>
          <a:noFill/>
        </p:spPr>
        <p:txBody>
          <a:bodyPr wrap="square" lIns="36576" rIns="36576" tIns="36576" bIns="36576">
            <a:spAutoFit/>
          </a:bodyPr>
          <a:lstStyle/>
          <a:p>
            <a:pPr>
              <a:spcAft>
                <a:spcPts val="700"/>
              </a:spcAft>
              <a:defRPr sz="900" b="1">
                <a:solidFill>
                  <a:srgbClr val="19B0A0"/>
                </a:solidFill>
                <a:latin typeface="Aptos"/>
              </a:defRPr>
            </a:pPr>
            <a:r>
              <a:t>UBER EATS • CAPSTONE</a:t>
            </a:r>
          </a:p>
        </p:txBody>
      </p:sp>
      <p:sp>
        <p:nvSpPr>
          <p:cNvPr id="4" name="TextBox 3"/>
          <p:cNvSpPr txBox="1"/>
          <p:nvPr/>
        </p:nvSpPr>
        <p:spPr>
          <a:xfrm>
            <a:off x="502920" y="566928"/>
            <a:ext cx="11155680" cy="566928"/>
          </a:xfrm>
          <a:prstGeom prst="rect">
            <a:avLst/>
          </a:prstGeom>
          <a:noFill/>
        </p:spPr>
        <p:txBody>
          <a:bodyPr wrap="square" lIns="36576" rIns="36576" tIns="36576" bIns="36576">
            <a:spAutoFit/>
          </a:bodyPr>
          <a:lstStyle/>
          <a:p>
            <a:pPr>
              <a:spcAft>
                <a:spcPts val="700"/>
              </a:spcAft>
              <a:defRPr sz="2600" b="1">
                <a:solidFill>
                  <a:srgbClr val="0D1B2E"/>
                </a:solidFill>
                <a:latin typeface="Aptos"/>
              </a:defRPr>
            </a:pPr>
            <a:r>
              <a:t>Business problem &amp; project questions</a:t>
            </a:r>
          </a:p>
        </p:txBody>
      </p:sp>
      <p:sp>
        <p:nvSpPr>
          <p:cNvPr id="5" name="Rectangle 4"/>
          <p:cNvSpPr/>
          <p:nvPr/>
        </p:nvSpPr>
        <p:spPr>
          <a:xfrm>
            <a:off x="502920" y="1234440"/>
            <a:ext cx="11155680" cy="13716"/>
          </a:xfrm>
          <a:prstGeom prst="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64592"/>
          </a:xfrm>
          <a:prstGeom prst="rect">
            <a:avLst/>
          </a:prstGeom>
          <a:noFill/>
        </p:spPr>
        <p:txBody>
          <a:bodyPr wrap="square" lIns="36576" rIns="36576" tIns="36576" bIns="36576">
            <a:spAutoFit/>
          </a:bodyPr>
          <a:lstStyle/>
          <a:p>
            <a:pPr>
              <a:spcAft>
                <a:spcPts val="700"/>
              </a:spcAft>
              <a:defRPr sz="800" b="0">
                <a:solidFill>
                  <a:srgbClr val="AEBECF"/>
                </a:solidFill>
                <a:latin typeface="Aptos"/>
              </a:defRPr>
            </a:pPr>
            <a:r>
              <a:t>Synthetic demonstration data • Results from supplied project outputs</a:t>
            </a:r>
          </a:p>
        </p:txBody>
      </p:sp>
      <p:sp>
        <p:nvSpPr>
          <p:cNvPr id="7" name="TextBox 6"/>
          <p:cNvSpPr txBox="1"/>
          <p:nvPr/>
        </p:nvSpPr>
        <p:spPr>
          <a:xfrm>
            <a:off x="11064240" y="6473952"/>
            <a:ext cx="594360" cy="182880"/>
          </a:xfrm>
          <a:prstGeom prst="rect">
            <a:avLst/>
          </a:prstGeom>
          <a:noFill/>
        </p:spPr>
        <p:txBody>
          <a:bodyPr wrap="square" lIns="36576" rIns="36576" tIns="36576" bIns="36576">
            <a:spAutoFit/>
          </a:bodyPr>
          <a:lstStyle/>
          <a:p>
            <a:pPr algn="r">
              <a:spcAft>
                <a:spcPts val="700"/>
              </a:spcAft>
              <a:defRPr sz="900" b="1">
                <a:solidFill>
                  <a:srgbClr val="AEBECF"/>
                </a:solidFill>
                <a:latin typeface="Aptos"/>
              </a:defRPr>
            </a:pPr>
            <a:r>
              <a:t>03</a:t>
            </a:r>
          </a:p>
        </p:txBody>
      </p:sp>
      <p:sp>
        <p:nvSpPr>
          <p:cNvPr id="8" name="TextBox 7"/>
          <p:cNvSpPr txBox="1"/>
          <p:nvPr/>
        </p:nvSpPr>
        <p:spPr>
          <a:xfrm>
            <a:off x="731520" y="1508760"/>
            <a:ext cx="5120640" cy="411480"/>
          </a:xfrm>
          <a:prstGeom prst="rect">
            <a:avLst/>
          </a:prstGeom>
          <a:noFill/>
        </p:spPr>
        <p:txBody>
          <a:bodyPr wrap="square" lIns="36576" rIns="36576" tIns="36576" bIns="36576">
            <a:spAutoFit/>
          </a:bodyPr>
          <a:lstStyle/>
          <a:p>
            <a:pPr>
              <a:spcAft>
                <a:spcPts val="700"/>
              </a:spcAft>
              <a:defRPr sz="1200" b="1">
                <a:solidFill>
                  <a:srgbClr val="19B0A0"/>
                </a:solidFill>
                <a:latin typeface="Aptos"/>
              </a:defRPr>
            </a:pPr>
            <a:r>
              <a:t>THE BUSINESS CHALLENGE</a:t>
            </a:r>
          </a:p>
        </p:txBody>
      </p:sp>
      <p:sp>
        <p:nvSpPr>
          <p:cNvPr id="9" name="TextBox 8"/>
          <p:cNvSpPr txBox="1"/>
          <p:nvPr/>
        </p:nvSpPr>
        <p:spPr>
          <a:xfrm>
            <a:off x="731520" y="1920240"/>
            <a:ext cx="5029200" cy="1097280"/>
          </a:xfrm>
          <a:prstGeom prst="rect">
            <a:avLst/>
          </a:prstGeom>
          <a:noFill/>
        </p:spPr>
        <p:txBody>
          <a:bodyPr wrap="square" lIns="36576" rIns="36576" tIns="36576" bIns="36576">
            <a:spAutoFit/>
          </a:bodyPr>
          <a:lstStyle/>
          <a:p>
            <a:pPr>
              <a:spcAft>
                <a:spcPts val="700"/>
              </a:spcAft>
              <a:defRPr sz="2300" b="1">
                <a:solidFill>
                  <a:srgbClr val="0D1B2E"/>
                </a:solidFill>
                <a:latin typeface="Aptos"/>
              </a:defRPr>
            </a:pPr>
            <a:r>
              <a:t>How can a food-delivery platform better understand customers, improve service, anticipate delivery times and plan capacity?</a:t>
            </a:r>
          </a:p>
        </p:txBody>
      </p:sp>
      <p:sp>
        <p:nvSpPr>
          <p:cNvPr id="10" name="TextBox 9"/>
          <p:cNvSpPr txBox="1"/>
          <p:nvPr/>
        </p:nvSpPr>
        <p:spPr>
          <a:xfrm>
            <a:off x="6217920" y="1508760"/>
            <a:ext cx="4937760" cy="411480"/>
          </a:xfrm>
          <a:prstGeom prst="rect">
            <a:avLst/>
          </a:prstGeom>
          <a:noFill/>
        </p:spPr>
        <p:txBody>
          <a:bodyPr wrap="square" lIns="36576" rIns="36576" tIns="36576" bIns="36576">
            <a:spAutoFit/>
          </a:bodyPr>
          <a:lstStyle/>
          <a:p>
            <a:pPr>
              <a:spcAft>
                <a:spcPts val="700"/>
              </a:spcAft>
              <a:defRPr sz="1200" b="1">
                <a:solidFill>
                  <a:srgbClr val="19B0A0"/>
                </a:solidFill>
                <a:latin typeface="Aptos"/>
              </a:defRPr>
            </a:pPr>
            <a:r>
              <a:t>QUESTIONS THIS PROJECT ADDRESSES</a:t>
            </a:r>
          </a:p>
        </p:txBody>
      </p:sp>
      <p:sp>
        <p:nvSpPr>
          <p:cNvPr id="11" name="Rounded Rectangle 10"/>
          <p:cNvSpPr/>
          <p:nvPr/>
        </p:nvSpPr>
        <p:spPr>
          <a:xfrm>
            <a:off x="6217920" y="2011680"/>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28232" y="1920240"/>
            <a:ext cx="4892040" cy="740664"/>
          </a:xfrm>
          <a:prstGeom prst="rect">
            <a:avLst/>
          </a:prstGeom>
          <a:noFill/>
        </p:spPr>
        <p:txBody>
          <a:bodyPr wrap="square" lIns="36576" rIns="36576" tIns="36576" bIns="36576">
            <a:spAutoFit/>
          </a:bodyPr>
          <a:lstStyle/>
          <a:p>
            <a:pPr>
              <a:spcAft>
                <a:spcPts val="700"/>
              </a:spcAft>
              <a:defRPr sz="1600" b="0">
                <a:solidFill>
                  <a:srgbClr val="1D2B3A"/>
                </a:solidFill>
                <a:latin typeface="Aptos"/>
              </a:defRPr>
            </a:pPr>
            <a:r>
              <a:t>Which customer and restaurant groups behave differently?</a:t>
            </a:r>
          </a:p>
        </p:txBody>
      </p:sp>
      <p:sp>
        <p:nvSpPr>
          <p:cNvPr id="13" name="Rounded Rectangle 12"/>
          <p:cNvSpPr/>
          <p:nvPr/>
        </p:nvSpPr>
        <p:spPr>
          <a:xfrm>
            <a:off x="6217920" y="2788920"/>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2697480"/>
            <a:ext cx="4892040" cy="740664"/>
          </a:xfrm>
          <a:prstGeom prst="rect">
            <a:avLst/>
          </a:prstGeom>
          <a:noFill/>
        </p:spPr>
        <p:txBody>
          <a:bodyPr wrap="square" lIns="36576" rIns="36576" tIns="36576" bIns="36576">
            <a:spAutoFit/>
          </a:bodyPr>
          <a:lstStyle/>
          <a:p>
            <a:pPr>
              <a:spcAft>
                <a:spcPts val="700"/>
              </a:spcAft>
              <a:defRPr sz="1600" b="0">
                <a:solidFill>
                  <a:srgbClr val="1D2B3A"/>
                </a:solidFill>
                <a:latin typeface="Aptos"/>
              </a:defRPr>
            </a:pPr>
            <a:r>
              <a:t>What themes appear in customer feedback?</a:t>
            </a:r>
          </a:p>
        </p:txBody>
      </p:sp>
      <p:sp>
        <p:nvSpPr>
          <p:cNvPr id="15" name="Rounded Rectangle 14"/>
          <p:cNvSpPr/>
          <p:nvPr/>
        </p:nvSpPr>
        <p:spPr>
          <a:xfrm>
            <a:off x="6217920" y="3566160"/>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3474720"/>
            <a:ext cx="4892040" cy="740664"/>
          </a:xfrm>
          <a:prstGeom prst="rect">
            <a:avLst/>
          </a:prstGeom>
          <a:noFill/>
        </p:spPr>
        <p:txBody>
          <a:bodyPr wrap="square" lIns="36576" rIns="36576" tIns="36576" bIns="36576">
            <a:spAutoFit/>
          </a:bodyPr>
          <a:lstStyle/>
          <a:p>
            <a:pPr>
              <a:spcAft>
                <a:spcPts val="700"/>
              </a:spcAft>
              <a:defRPr sz="1600" b="0">
                <a:solidFill>
                  <a:srgbClr val="1D2B3A"/>
                </a:solidFill>
                <a:latin typeface="Aptos"/>
              </a:defRPr>
            </a:pPr>
            <a:r>
              <a:t>Which operational factors are associated with delivery duration?</a:t>
            </a:r>
          </a:p>
        </p:txBody>
      </p:sp>
      <p:sp>
        <p:nvSpPr>
          <p:cNvPr id="17" name="Rounded Rectangle 16"/>
          <p:cNvSpPr/>
          <p:nvPr/>
        </p:nvSpPr>
        <p:spPr>
          <a:xfrm>
            <a:off x="6217920" y="4343400"/>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4251960"/>
            <a:ext cx="4892040" cy="740664"/>
          </a:xfrm>
          <a:prstGeom prst="rect">
            <a:avLst/>
          </a:prstGeom>
          <a:noFill/>
        </p:spPr>
        <p:txBody>
          <a:bodyPr wrap="square" lIns="36576" rIns="36576" tIns="36576" bIns="36576">
            <a:spAutoFit/>
          </a:bodyPr>
          <a:lstStyle/>
          <a:p>
            <a:pPr>
              <a:spcAft>
                <a:spcPts val="700"/>
              </a:spcAft>
              <a:defRPr sz="1600" b="0">
                <a:solidFill>
                  <a:srgbClr val="1D2B3A"/>
                </a:solidFill>
                <a:latin typeface="Aptos"/>
              </a:defRPr>
            </a:pPr>
            <a:r>
              <a:t>Can hourly order demand be forecast for short-term planning?</a:t>
            </a:r>
          </a:p>
        </p:txBody>
      </p:sp>
      <p:sp>
        <p:nvSpPr>
          <p:cNvPr id="19" name="Rounded Rectangle 18"/>
          <p:cNvSpPr/>
          <p:nvPr/>
        </p:nvSpPr>
        <p:spPr>
          <a:xfrm>
            <a:off x="731520" y="5440680"/>
            <a:ext cx="10698480" cy="530352"/>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559552"/>
            <a:ext cx="10241280" cy="274320"/>
          </a:xfrm>
          <a:prstGeom prst="rect">
            <a:avLst/>
          </a:prstGeom>
          <a:noFill/>
        </p:spPr>
        <p:txBody>
          <a:bodyPr wrap="square" lIns="36576" rIns="36576" tIns="36576" bIns="36576">
            <a:spAutoFit/>
          </a:bodyPr>
          <a:lstStyle/>
          <a:p>
            <a:pPr>
              <a:spcAft>
                <a:spcPts val="700"/>
              </a:spcAft>
              <a:defRPr sz="1300" b="1">
                <a:solidFill>
                  <a:srgbClr val="0D1B2E"/>
                </a:solidFill>
                <a:latin typeface="Aptos"/>
              </a:defRPr>
            </a:pPr>
            <a:r>
              <a:t>Scope: analytical proof of concept using synthetic data—not production Uber Eats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28600"/>
          </a:xfrm>
          <a:prstGeom prst="rect">
            <a:avLst/>
          </a:prstGeom>
          <a:noFill/>
        </p:spPr>
        <p:txBody>
          <a:bodyPr wrap="square" lIns="36576" rIns="36576" tIns="36576" bIns="36576">
            <a:spAutoFit/>
          </a:bodyPr>
          <a:lstStyle/>
          <a:p>
            <a:pPr>
              <a:spcAft>
                <a:spcPts val="700"/>
              </a:spcAft>
              <a:defRPr sz="900" b="1">
                <a:solidFill>
                  <a:srgbClr val="19B0A0"/>
                </a:solidFill>
                <a:latin typeface="Aptos"/>
              </a:defRPr>
            </a:pPr>
            <a:r>
              <a:t>UBER EATS • CAPSTONE</a:t>
            </a:r>
          </a:p>
        </p:txBody>
      </p:sp>
      <p:sp>
        <p:nvSpPr>
          <p:cNvPr id="4" name="TextBox 3"/>
          <p:cNvSpPr txBox="1"/>
          <p:nvPr/>
        </p:nvSpPr>
        <p:spPr>
          <a:xfrm>
            <a:off x="502920" y="566928"/>
            <a:ext cx="11155680" cy="566928"/>
          </a:xfrm>
          <a:prstGeom prst="rect">
            <a:avLst/>
          </a:prstGeom>
          <a:noFill/>
        </p:spPr>
        <p:txBody>
          <a:bodyPr wrap="square" lIns="36576" rIns="36576" tIns="36576" bIns="36576">
            <a:spAutoFit/>
          </a:bodyPr>
          <a:lstStyle/>
          <a:p>
            <a:pPr>
              <a:spcAft>
                <a:spcPts val="700"/>
              </a:spcAft>
              <a:defRPr sz="2600" b="1">
                <a:solidFill>
                  <a:srgbClr val="0D1B2E"/>
                </a:solidFill>
                <a:latin typeface="Aptos"/>
              </a:defRPr>
            </a:pPr>
            <a:r>
              <a:t>Dataset overview: 7 linked synthetic tables</a:t>
            </a:r>
          </a:p>
        </p:txBody>
      </p:sp>
      <p:sp>
        <p:nvSpPr>
          <p:cNvPr id="5" name="Rectangle 4"/>
          <p:cNvSpPr/>
          <p:nvPr/>
        </p:nvSpPr>
        <p:spPr>
          <a:xfrm>
            <a:off x="502920" y="1234440"/>
            <a:ext cx="11155680" cy="13716"/>
          </a:xfrm>
          <a:prstGeom prst="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64592"/>
          </a:xfrm>
          <a:prstGeom prst="rect">
            <a:avLst/>
          </a:prstGeom>
          <a:noFill/>
        </p:spPr>
        <p:txBody>
          <a:bodyPr wrap="square" lIns="36576" rIns="36576" tIns="36576" bIns="36576">
            <a:spAutoFit/>
          </a:bodyPr>
          <a:lstStyle/>
          <a:p>
            <a:pPr>
              <a:spcAft>
                <a:spcPts val="700"/>
              </a:spcAft>
              <a:defRPr sz="800" b="0">
                <a:solidFill>
                  <a:srgbClr val="AEBECF"/>
                </a:solidFill>
                <a:latin typeface="Aptos"/>
              </a:defRPr>
            </a:pPr>
            <a:r>
              <a:t>Synthetic demonstration data • Results from supplied project outputs</a:t>
            </a:r>
          </a:p>
        </p:txBody>
      </p:sp>
      <p:sp>
        <p:nvSpPr>
          <p:cNvPr id="7" name="TextBox 6"/>
          <p:cNvSpPr txBox="1"/>
          <p:nvPr/>
        </p:nvSpPr>
        <p:spPr>
          <a:xfrm>
            <a:off x="11064240" y="6473952"/>
            <a:ext cx="594360" cy="182880"/>
          </a:xfrm>
          <a:prstGeom prst="rect">
            <a:avLst/>
          </a:prstGeom>
          <a:noFill/>
        </p:spPr>
        <p:txBody>
          <a:bodyPr wrap="square" lIns="36576" rIns="36576" tIns="36576" bIns="36576">
            <a:spAutoFit/>
          </a:bodyPr>
          <a:lstStyle/>
          <a:p>
            <a:pPr algn="r">
              <a:spcAft>
                <a:spcPts val="700"/>
              </a:spcAft>
              <a:defRPr sz="900" b="1">
                <a:solidFill>
                  <a:srgbClr val="AEBECF"/>
                </a:solidFill>
                <a:latin typeface="Aptos"/>
              </a:defRPr>
            </a:pPr>
            <a:r>
              <a:t>04</a:t>
            </a:r>
          </a:p>
        </p:txBody>
      </p:sp>
      <p:sp>
        <p:nvSpPr>
          <p:cNvPr id="8" name="Rounded Rectangle 7"/>
          <p:cNvSpPr/>
          <p:nvPr/>
        </p:nvSpPr>
        <p:spPr>
          <a:xfrm>
            <a:off x="731520" y="1508760"/>
            <a:ext cx="5120640" cy="84124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1600200"/>
            <a:ext cx="1371600" cy="219456"/>
          </a:xfrm>
          <a:prstGeom prst="rect">
            <a:avLst/>
          </a:prstGeom>
          <a:noFill/>
        </p:spPr>
        <p:txBody>
          <a:bodyPr wrap="square" lIns="36576" rIns="36576" tIns="36576" bIns="36576">
            <a:spAutoFit/>
          </a:bodyPr>
          <a:lstStyle/>
          <a:p>
            <a:pPr>
              <a:spcAft>
                <a:spcPts val="700"/>
              </a:spcAft>
              <a:defRPr sz="1200" b="1">
                <a:solidFill>
                  <a:srgbClr val="19B0A0"/>
                </a:solidFill>
                <a:latin typeface="Aptos"/>
              </a:defRPr>
            </a:pPr>
            <a:r>
              <a:t>Orders</a:t>
            </a:r>
          </a:p>
        </p:txBody>
      </p:sp>
      <p:sp>
        <p:nvSpPr>
          <p:cNvPr id="10" name="TextBox 9"/>
          <p:cNvSpPr txBox="1"/>
          <p:nvPr/>
        </p:nvSpPr>
        <p:spPr>
          <a:xfrm>
            <a:off x="2331720" y="1581912"/>
            <a:ext cx="914400" cy="320040"/>
          </a:xfrm>
          <a:prstGeom prst="rect">
            <a:avLst/>
          </a:prstGeom>
          <a:noFill/>
        </p:spPr>
        <p:txBody>
          <a:bodyPr wrap="square" lIns="36576" rIns="36576" tIns="36576" bIns="36576">
            <a:spAutoFit/>
          </a:bodyPr>
          <a:lstStyle/>
          <a:p>
            <a:pPr>
              <a:spcAft>
                <a:spcPts val="700"/>
              </a:spcAft>
              <a:defRPr sz="2100" b="1">
                <a:solidFill>
                  <a:srgbClr val="0D1B2E"/>
                </a:solidFill>
                <a:latin typeface="Aptos"/>
              </a:defRPr>
            </a:pPr>
            <a:r>
              <a:t>1,800</a:t>
            </a:r>
          </a:p>
        </p:txBody>
      </p:sp>
      <p:sp>
        <p:nvSpPr>
          <p:cNvPr id="11" name="TextBox 10"/>
          <p:cNvSpPr txBox="1"/>
          <p:nvPr/>
        </p:nvSpPr>
        <p:spPr>
          <a:xfrm>
            <a:off x="3246120" y="1627631"/>
            <a:ext cx="2423160" cy="502920"/>
          </a:xfrm>
          <a:prstGeom prst="rect">
            <a:avLst/>
          </a:prstGeom>
          <a:noFill/>
        </p:spPr>
        <p:txBody>
          <a:bodyPr wrap="square" lIns="36576" rIns="36576" tIns="36576" bIns="36576">
            <a:spAutoFit/>
          </a:bodyPr>
          <a:lstStyle/>
          <a:p>
            <a:pPr>
              <a:spcAft>
                <a:spcPts val="700"/>
              </a:spcAft>
              <a:defRPr sz="1000" b="0">
                <a:solidFill>
                  <a:srgbClr val="1D2B3A"/>
                </a:solidFill>
                <a:latin typeface="Aptos"/>
              </a:defRPr>
            </a:pPr>
            <a:r>
              <a:t>Order amount, items, timestamp, status</a:t>
            </a:r>
          </a:p>
        </p:txBody>
      </p:sp>
      <p:sp>
        <p:nvSpPr>
          <p:cNvPr id="12" name="Rounded Rectangle 11"/>
          <p:cNvSpPr/>
          <p:nvPr/>
        </p:nvSpPr>
        <p:spPr>
          <a:xfrm>
            <a:off x="6217920" y="1508760"/>
            <a:ext cx="5120640" cy="84124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4224" y="1600200"/>
            <a:ext cx="1371600" cy="219456"/>
          </a:xfrm>
          <a:prstGeom prst="rect">
            <a:avLst/>
          </a:prstGeom>
          <a:noFill/>
        </p:spPr>
        <p:txBody>
          <a:bodyPr wrap="square" lIns="36576" rIns="36576" tIns="36576" bIns="36576">
            <a:spAutoFit/>
          </a:bodyPr>
          <a:lstStyle/>
          <a:p>
            <a:pPr>
              <a:spcAft>
                <a:spcPts val="700"/>
              </a:spcAft>
              <a:defRPr sz="1200" b="1">
                <a:solidFill>
                  <a:srgbClr val="19B0A0"/>
                </a:solidFill>
                <a:latin typeface="Aptos"/>
              </a:defRPr>
            </a:pPr>
            <a:r>
              <a:t>Customers</a:t>
            </a:r>
          </a:p>
        </p:txBody>
      </p:sp>
      <p:sp>
        <p:nvSpPr>
          <p:cNvPr id="14" name="TextBox 13"/>
          <p:cNvSpPr txBox="1"/>
          <p:nvPr/>
        </p:nvSpPr>
        <p:spPr>
          <a:xfrm>
            <a:off x="7818120" y="1581912"/>
            <a:ext cx="914400" cy="320040"/>
          </a:xfrm>
          <a:prstGeom prst="rect">
            <a:avLst/>
          </a:prstGeom>
          <a:noFill/>
        </p:spPr>
        <p:txBody>
          <a:bodyPr wrap="square" lIns="36576" rIns="36576" tIns="36576" bIns="36576">
            <a:spAutoFit/>
          </a:bodyPr>
          <a:lstStyle/>
          <a:p>
            <a:pPr>
              <a:spcAft>
                <a:spcPts val="700"/>
              </a:spcAft>
              <a:defRPr sz="2100" b="1">
                <a:solidFill>
                  <a:srgbClr val="0D1B2E"/>
                </a:solidFill>
                <a:latin typeface="Aptos"/>
              </a:defRPr>
            </a:pPr>
            <a:r>
              <a:t>300</a:t>
            </a:r>
          </a:p>
        </p:txBody>
      </p:sp>
      <p:sp>
        <p:nvSpPr>
          <p:cNvPr id="15" name="TextBox 14"/>
          <p:cNvSpPr txBox="1"/>
          <p:nvPr/>
        </p:nvSpPr>
        <p:spPr>
          <a:xfrm>
            <a:off x="8732520" y="1627631"/>
            <a:ext cx="2423160" cy="502920"/>
          </a:xfrm>
          <a:prstGeom prst="rect">
            <a:avLst/>
          </a:prstGeom>
          <a:noFill/>
        </p:spPr>
        <p:txBody>
          <a:bodyPr wrap="square" lIns="36576" rIns="36576" tIns="36576" bIns="36576">
            <a:spAutoFit/>
          </a:bodyPr>
          <a:lstStyle/>
          <a:p>
            <a:pPr>
              <a:spcAft>
                <a:spcPts val="700"/>
              </a:spcAft>
              <a:defRPr sz="1000" b="0">
                <a:solidFill>
                  <a:srgbClr val="1D2B3A"/>
                </a:solidFill>
                <a:latin typeface="Aptos"/>
              </a:defRPr>
            </a:pPr>
            <a:r>
              <a:t>Age, gender, city, signup date</a:t>
            </a:r>
          </a:p>
        </p:txBody>
      </p:sp>
      <p:sp>
        <p:nvSpPr>
          <p:cNvPr id="16" name="Rounded Rectangle 15"/>
          <p:cNvSpPr/>
          <p:nvPr/>
        </p:nvSpPr>
        <p:spPr>
          <a:xfrm>
            <a:off x="731520" y="2587752"/>
            <a:ext cx="5120640" cy="84124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7824" y="2679192"/>
            <a:ext cx="1371600" cy="219456"/>
          </a:xfrm>
          <a:prstGeom prst="rect">
            <a:avLst/>
          </a:prstGeom>
          <a:noFill/>
        </p:spPr>
        <p:txBody>
          <a:bodyPr wrap="square" lIns="36576" rIns="36576" tIns="36576" bIns="36576">
            <a:spAutoFit/>
          </a:bodyPr>
          <a:lstStyle/>
          <a:p>
            <a:pPr>
              <a:spcAft>
                <a:spcPts val="700"/>
              </a:spcAft>
              <a:defRPr sz="1200" b="1">
                <a:solidFill>
                  <a:srgbClr val="19B0A0"/>
                </a:solidFill>
                <a:latin typeface="Aptos"/>
              </a:defRPr>
            </a:pPr>
            <a:r>
              <a:t>Restaurants</a:t>
            </a:r>
          </a:p>
        </p:txBody>
      </p:sp>
      <p:sp>
        <p:nvSpPr>
          <p:cNvPr id="18" name="TextBox 17"/>
          <p:cNvSpPr txBox="1"/>
          <p:nvPr/>
        </p:nvSpPr>
        <p:spPr>
          <a:xfrm>
            <a:off x="2331720" y="2660904"/>
            <a:ext cx="914400" cy="320040"/>
          </a:xfrm>
          <a:prstGeom prst="rect">
            <a:avLst/>
          </a:prstGeom>
          <a:noFill/>
        </p:spPr>
        <p:txBody>
          <a:bodyPr wrap="square" lIns="36576" rIns="36576" tIns="36576" bIns="36576">
            <a:spAutoFit/>
          </a:bodyPr>
          <a:lstStyle/>
          <a:p>
            <a:pPr>
              <a:spcAft>
                <a:spcPts val="700"/>
              </a:spcAft>
              <a:defRPr sz="2100" b="1">
                <a:solidFill>
                  <a:srgbClr val="0D1B2E"/>
                </a:solidFill>
                <a:latin typeface="Aptos"/>
              </a:defRPr>
            </a:pPr>
            <a:r>
              <a:t>45</a:t>
            </a:r>
          </a:p>
        </p:txBody>
      </p:sp>
      <p:sp>
        <p:nvSpPr>
          <p:cNvPr id="19" name="TextBox 18"/>
          <p:cNvSpPr txBox="1"/>
          <p:nvPr/>
        </p:nvSpPr>
        <p:spPr>
          <a:xfrm>
            <a:off x="3246120" y="2706624"/>
            <a:ext cx="2423160" cy="502920"/>
          </a:xfrm>
          <a:prstGeom prst="rect">
            <a:avLst/>
          </a:prstGeom>
          <a:noFill/>
        </p:spPr>
        <p:txBody>
          <a:bodyPr wrap="square" lIns="36576" rIns="36576" tIns="36576" bIns="36576">
            <a:spAutoFit/>
          </a:bodyPr>
          <a:lstStyle/>
          <a:p>
            <a:pPr>
              <a:spcAft>
                <a:spcPts val="700"/>
              </a:spcAft>
              <a:defRPr sz="1000" b="0">
                <a:solidFill>
                  <a:srgbClr val="1D2B3A"/>
                </a:solidFill>
                <a:latin typeface="Aptos"/>
              </a:defRPr>
            </a:pPr>
            <a:r>
              <a:t>Category, city, rating, prep time</a:t>
            </a:r>
          </a:p>
        </p:txBody>
      </p:sp>
      <p:sp>
        <p:nvSpPr>
          <p:cNvPr id="20" name="Rounded Rectangle 19"/>
          <p:cNvSpPr/>
          <p:nvPr/>
        </p:nvSpPr>
        <p:spPr>
          <a:xfrm>
            <a:off x="6217920" y="2587752"/>
            <a:ext cx="5120640" cy="84124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2679192"/>
            <a:ext cx="1371600" cy="219456"/>
          </a:xfrm>
          <a:prstGeom prst="rect">
            <a:avLst/>
          </a:prstGeom>
          <a:noFill/>
        </p:spPr>
        <p:txBody>
          <a:bodyPr wrap="square" lIns="36576" rIns="36576" tIns="36576" bIns="36576">
            <a:spAutoFit/>
          </a:bodyPr>
          <a:lstStyle/>
          <a:p>
            <a:pPr>
              <a:spcAft>
                <a:spcPts val="700"/>
              </a:spcAft>
              <a:defRPr sz="1200" b="1">
                <a:solidFill>
                  <a:srgbClr val="19B0A0"/>
                </a:solidFill>
                <a:latin typeface="Aptos"/>
              </a:defRPr>
            </a:pPr>
            <a:r>
              <a:t>Deliveries</a:t>
            </a:r>
          </a:p>
        </p:txBody>
      </p:sp>
      <p:sp>
        <p:nvSpPr>
          <p:cNvPr id="22" name="TextBox 21"/>
          <p:cNvSpPr txBox="1"/>
          <p:nvPr/>
        </p:nvSpPr>
        <p:spPr>
          <a:xfrm>
            <a:off x="7818120" y="2660904"/>
            <a:ext cx="914400" cy="320040"/>
          </a:xfrm>
          <a:prstGeom prst="rect">
            <a:avLst/>
          </a:prstGeom>
          <a:noFill/>
        </p:spPr>
        <p:txBody>
          <a:bodyPr wrap="square" lIns="36576" rIns="36576" tIns="36576" bIns="36576">
            <a:spAutoFit/>
          </a:bodyPr>
          <a:lstStyle/>
          <a:p>
            <a:pPr>
              <a:spcAft>
                <a:spcPts val="700"/>
              </a:spcAft>
              <a:defRPr sz="2100" b="1">
                <a:solidFill>
                  <a:srgbClr val="0D1B2E"/>
                </a:solidFill>
                <a:latin typeface="Aptos"/>
              </a:defRPr>
            </a:pPr>
            <a:r>
              <a:t>1,800</a:t>
            </a:r>
          </a:p>
        </p:txBody>
      </p:sp>
      <p:sp>
        <p:nvSpPr>
          <p:cNvPr id="23" name="TextBox 22"/>
          <p:cNvSpPr txBox="1"/>
          <p:nvPr/>
        </p:nvSpPr>
        <p:spPr>
          <a:xfrm>
            <a:off x="8732520" y="2706624"/>
            <a:ext cx="2423160" cy="502920"/>
          </a:xfrm>
          <a:prstGeom prst="rect">
            <a:avLst/>
          </a:prstGeom>
          <a:noFill/>
        </p:spPr>
        <p:txBody>
          <a:bodyPr wrap="square" lIns="36576" rIns="36576" tIns="36576" bIns="36576">
            <a:spAutoFit/>
          </a:bodyPr>
          <a:lstStyle/>
          <a:p>
            <a:pPr>
              <a:spcAft>
                <a:spcPts val="700"/>
              </a:spcAft>
              <a:defRPr sz="1000" b="0">
                <a:solidFill>
                  <a:srgbClr val="1D2B3A"/>
                </a:solidFill>
                <a:latin typeface="Aptos"/>
              </a:defRPr>
            </a:pPr>
            <a:r>
              <a:t>Distance, duration, weather, traffic, tips</a:t>
            </a:r>
          </a:p>
        </p:txBody>
      </p:sp>
      <p:sp>
        <p:nvSpPr>
          <p:cNvPr id="24" name="Rounded Rectangle 23"/>
          <p:cNvSpPr/>
          <p:nvPr/>
        </p:nvSpPr>
        <p:spPr>
          <a:xfrm>
            <a:off x="731520" y="3666744"/>
            <a:ext cx="5120640" cy="84124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3758183"/>
            <a:ext cx="1371600" cy="219456"/>
          </a:xfrm>
          <a:prstGeom prst="rect">
            <a:avLst/>
          </a:prstGeom>
          <a:noFill/>
        </p:spPr>
        <p:txBody>
          <a:bodyPr wrap="square" lIns="36576" rIns="36576" tIns="36576" bIns="36576">
            <a:spAutoFit/>
          </a:bodyPr>
          <a:lstStyle/>
          <a:p>
            <a:pPr>
              <a:spcAft>
                <a:spcPts val="700"/>
              </a:spcAft>
              <a:defRPr sz="1200" b="1">
                <a:solidFill>
                  <a:srgbClr val="19B0A0"/>
                </a:solidFill>
                <a:latin typeface="Aptos"/>
              </a:defRPr>
            </a:pPr>
            <a:r>
              <a:t>Reviews</a:t>
            </a:r>
          </a:p>
        </p:txBody>
      </p:sp>
      <p:sp>
        <p:nvSpPr>
          <p:cNvPr id="26" name="TextBox 25"/>
          <p:cNvSpPr txBox="1"/>
          <p:nvPr/>
        </p:nvSpPr>
        <p:spPr>
          <a:xfrm>
            <a:off x="2331720" y="3739896"/>
            <a:ext cx="914400" cy="320040"/>
          </a:xfrm>
          <a:prstGeom prst="rect">
            <a:avLst/>
          </a:prstGeom>
          <a:noFill/>
        </p:spPr>
        <p:txBody>
          <a:bodyPr wrap="square" lIns="36576" rIns="36576" tIns="36576" bIns="36576">
            <a:spAutoFit/>
          </a:bodyPr>
          <a:lstStyle/>
          <a:p>
            <a:pPr>
              <a:spcAft>
                <a:spcPts val="700"/>
              </a:spcAft>
              <a:defRPr sz="2100" b="1">
                <a:solidFill>
                  <a:srgbClr val="0D1B2E"/>
                </a:solidFill>
                <a:latin typeface="Aptos"/>
              </a:defRPr>
            </a:pPr>
            <a:r>
              <a:t>1,147</a:t>
            </a:r>
          </a:p>
        </p:txBody>
      </p:sp>
      <p:sp>
        <p:nvSpPr>
          <p:cNvPr id="27" name="TextBox 26"/>
          <p:cNvSpPr txBox="1"/>
          <p:nvPr/>
        </p:nvSpPr>
        <p:spPr>
          <a:xfrm>
            <a:off x="3246120" y="3785615"/>
            <a:ext cx="2423160" cy="502920"/>
          </a:xfrm>
          <a:prstGeom prst="rect">
            <a:avLst/>
          </a:prstGeom>
          <a:noFill/>
        </p:spPr>
        <p:txBody>
          <a:bodyPr wrap="square" lIns="36576" rIns="36576" tIns="36576" bIns="36576">
            <a:spAutoFit/>
          </a:bodyPr>
          <a:lstStyle/>
          <a:p>
            <a:pPr>
              <a:spcAft>
                <a:spcPts val="700"/>
              </a:spcAft>
              <a:defRPr sz="1000" b="0">
                <a:solidFill>
                  <a:srgbClr val="1D2B3A"/>
                </a:solidFill>
                <a:latin typeface="Aptos"/>
              </a:defRPr>
            </a:pPr>
            <a:r>
              <a:t>Star rating, text, review timestamp</a:t>
            </a:r>
          </a:p>
        </p:txBody>
      </p:sp>
      <p:sp>
        <p:nvSpPr>
          <p:cNvPr id="28" name="Rounded Rectangle 27"/>
          <p:cNvSpPr/>
          <p:nvPr/>
        </p:nvSpPr>
        <p:spPr>
          <a:xfrm>
            <a:off x="6217920" y="3666744"/>
            <a:ext cx="5120640" cy="84124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64224" y="3758183"/>
            <a:ext cx="1371600" cy="219456"/>
          </a:xfrm>
          <a:prstGeom prst="rect">
            <a:avLst/>
          </a:prstGeom>
          <a:noFill/>
        </p:spPr>
        <p:txBody>
          <a:bodyPr wrap="square" lIns="36576" rIns="36576" tIns="36576" bIns="36576">
            <a:spAutoFit/>
          </a:bodyPr>
          <a:lstStyle/>
          <a:p>
            <a:pPr>
              <a:spcAft>
                <a:spcPts val="700"/>
              </a:spcAft>
              <a:defRPr sz="1200" b="1">
                <a:solidFill>
                  <a:srgbClr val="19B0A0"/>
                </a:solidFill>
                <a:latin typeface="Aptos"/>
              </a:defRPr>
            </a:pPr>
            <a:r>
              <a:t>Payments</a:t>
            </a:r>
          </a:p>
        </p:txBody>
      </p:sp>
      <p:sp>
        <p:nvSpPr>
          <p:cNvPr id="30" name="TextBox 29"/>
          <p:cNvSpPr txBox="1"/>
          <p:nvPr/>
        </p:nvSpPr>
        <p:spPr>
          <a:xfrm>
            <a:off x="7818120" y="3739896"/>
            <a:ext cx="914400" cy="320040"/>
          </a:xfrm>
          <a:prstGeom prst="rect">
            <a:avLst/>
          </a:prstGeom>
          <a:noFill/>
        </p:spPr>
        <p:txBody>
          <a:bodyPr wrap="square" lIns="36576" rIns="36576" tIns="36576" bIns="36576">
            <a:spAutoFit/>
          </a:bodyPr>
          <a:lstStyle/>
          <a:p>
            <a:pPr>
              <a:spcAft>
                <a:spcPts val="700"/>
              </a:spcAft>
              <a:defRPr sz="2100" b="1">
                <a:solidFill>
                  <a:srgbClr val="0D1B2E"/>
                </a:solidFill>
                <a:latin typeface="Aptos"/>
              </a:defRPr>
            </a:pPr>
            <a:r>
              <a:t>1,800</a:t>
            </a:r>
          </a:p>
        </p:txBody>
      </p:sp>
      <p:sp>
        <p:nvSpPr>
          <p:cNvPr id="31" name="TextBox 30"/>
          <p:cNvSpPr txBox="1"/>
          <p:nvPr/>
        </p:nvSpPr>
        <p:spPr>
          <a:xfrm>
            <a:off x="8732520" y="3785615"/>
            <a:ext cx="2423160" cy="502920"/>
          </a:xfrm>
          <a:prstGeom prst="rect">
            <a:avLst/>
          </a:prstGeom>
          <a:noFill/>
        </p:spPr>
        <p:txBody>
          <a:bodyPr wrap="square" lIns="36576" rIns="36576" tIns="36576" bIns="36576">
            <a:spAutoFit/>
          </a:bodyPr>
          <a:lstStyle/>
          <a:p>
            <a:pPr>
              <a:spcAft>
                <a:spcPts val="700"/>
              </a:spcAft>
              <a:defRPr sz="1000" b="0">
                <a:solidFill>
                  <a:srgbClr val="1D2B3A"/>
                </a:solidFill>
                <a:latin typeface="Aptos"/>
              </a:defRPr>
            </a:pPr>
            <a:r>
              <a:t>Method, amount, payment status</a:t>
            </a:r>
          </a:p>
        </p:txBody>
      </p:sp>
      <p:sp>
        <p:nvSpPr>
          <p:cNvPr id="32" name="Rounded Rectangle 31"/>
          <p:cNvSpPr/>
          <p:nvPr/>
        </p:nvSpPr>
        <p:spPr>
          <a:xfrm>
            <a:off x="731520" y="4745736"/>
            <a:ext cx="5120640" cy="84124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77824" y="4837175"/>
            <a:ext cx="1371600" cy="219456"/>
          </a:xfrm>
          <a:prstGeom prst="rect">
            <a:avLst/>
          </a:prstGeom>
          <a:noFill/>
        </p:spPr>
        <p:txBody>
          <a:bodyPr wrap="square" lIns="36576" rIns="36576" tIns="36576" bIns="36576">
            <a:spAutoFit/>
          </a:bodyPr>
          <a:lstStyle/>
          <a:p>
            <a:pPr>
              <a:spcAft>
                <a:spcPts val="700"/>
              </a:spcAft>
              <a:defRPr sz="1200" b="1">
                <a:solidFill>
                  <a:srgbClr val="19B0A0"/>
                </a:solidFill>
                <a:latin typeface="Aptos"/>
              </a:defRPr>
            </a:pPr>
            <a:r>
              <a:t>Drivers</a:t>
            </a:r>
          </a:p>
        </p:txBody>
      </p:sp>
      <p:sp>
        <p:nvSpPr>
          <p:cNvPr id="34" name="TextBox 33"/>
          <p:cNvSpPr txBox="1"/>
          <p:nvPr/>
        </p:nvSpPr>
        <p:spPr>
          <a:xfrm>
            <a:off x="2331720" y="4818888"/>
            <a:ext cx="914400" cy="320040"/>
          </a:xfrm>
          <a:prstGeom prst="rect">
            <a:avLst/>
          </a:prstGeom>
          <a:noFill/>
        </p:spPr>
        <p:txBody>
          <a:bodyPr wrap="square" lIns="36576" rIns="36576" tIns="36576" bIns="36576">
            <a:spAutoFit/>
          </a:bodyPr>
          <a:lstStyle/>
          <a:p>
            <a:pPr>
              <a:spcAft>
                <a:spcPts val="700"/>
              </a:spcAft>
              <a:defRPr sz="2100" b="1">
                <a:solidFill>
                  <a:srgbClr val="0D1B2E"/>
                </a:solidFill>
                <a:latin typeface="Aptos"/>
              </a:defRPr>
            </a:pPr>
            <a:r>
              <a:t>70</a:t>
            </a:r>
          </a:p>
        </p:txBody>
      </p:sp>
      <p:sp>
        <p:nvSpPr>
          <p:cNvPr id="35" name="TextBox 34"/>
          <p:cNvSpPr txBox="1"/>
          <p:nvPr/>
        </p:nvSpPr>
        <p:spPr>
          <a:xfrm>
            <a:off x="3246120" y="4864607"/>
            <a:ext cx="2423160" cy="502920"/>
          </a:xfrm>
          <a:prstGeom prst="rect">
            <a:avLst/>
          </a:prstGeom>
          <a:noFill/>
        </p:spPr>
        <p:txBody>
          <a:bodyPr wrap="square" lIns="36576" rIns="36576" tIns="36576" bIns="36576">
            <a:spAutoFit/>
          </a:bodyPr>
          <a:lstStyle/>
          <a:p>
            <a:pPr>
              <a:spcAft>
                <a:spcPts val="700"/>
              </a:spcAft>
              <a:defRPr sz="1000" b="0">
                <a:solidFill>
                  <a:srgbClr val="1D2B3A"/>
                </a:solidFill>
                <a:latin typeface="Aptos"/>
              </a:defRPr>
            </a:pPr>
            <a:r>
              <a:t>Vehicle type, experience, rating</a:t>
            </a:r>
          </a:p>
        </p:txBody>
      </p:sp>
      <p:sp>
        <p:nvSpPr>
          <p:cNvPr id="36" name="TextBox 35"/>
          <p:cNvSpPr txBox="1"/>
          <p:nvPr/>
        </p:nvSpPr>
        <p:spPr>
          <a:xfrm>
            <a:off x="822960" y="5989320"/>
            <a:ext cx="10515600" cy="274320"/>
          </a:xfrm>
          <a:prstGeom prst="rect">
            <a:avLst/>
          </a:prstGeom>
          <a:noFill/>
        </p:spPr>
        <p:txBody>
          <a:bodyPr wrap="square" lIns="36576" rIns="36576" tIns="36576" bIns="36576">
            <a:spAutoFit/>
          </a:bodyPr>
          <a:lstStyle/>
          <a:p>
            <a:pPr>
              <a:spcAft>
                <a:spcPts val="700"/>
              </a:spcAft>
              <a:defRPr sz="1100" b="0">
                <a:solidFill>
                  <a:srgbClr val="AEBECF"/>
                </a:solidFill>
                <a:latin typeface="Aptos"/>
              </a:defRPr>
            </a:pPr>
            <a:r>
              <a:t>Coverage: orders span Jan–Mar 2026 in the supplied files. Tables are joined using entity and order IDs.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28600"/>
          </a:xfrm>
          <a:prstGeom prst="rect">
            <a:avLst/>
          </a:prstGeom>
          <a:noFill/>
        </p:spPr>
        <p:txBody>
          <a:bodyPr wrap="square" lIns="36576" rIns="36576" tIns="36576" bIns="36576">
            <a:spAutoFit/>
          </a:bodyPr>
          <a:lstStyle/>
          <a:p>
            <a:pPr>
              <a:spcAft>
                <a:spcPts val="700"/>
              </a:spcAft>
              <a:defRPr sz="900" b="1">
                <a:solidFill>
                  <a:srgbClr val="19B0A0"/>
                </a:solidFill>
                <a:latin typeface="Aptos"/>
              </a:defRPr>
            </a:pPr>
            <a:r>
              <a:t>UBER EATS • CAPSTONE</a:t>
            </a:r>
          </a:p>
        </p:txBody>
      </p:sp>
      <p:sp>
        <p:nvSpPr>
          <p:cNvPr id="4" name="TextBox 3"/>
          <p:cNvSpPr txBox="1"/>
          <p:nvPr/>
        </p:nvSpPr>
        <p:spPr>
          <a:xfrm>
            <a:off x="502920" y="566928"/>
            <a:ext cx="11155680" cy="566928"/>
          </a:xfrm>
          <a:prstGeom prst="rect">
            <a:avLst/>
          </a:prstGeom>
          <a:noFill/>
        </p:spPr>
        <p:txBody>
          <a:bodyPr wrap="square" lIns="36576" rIns="36576" tIns="36576" bIns="36576">
            <a:spAutoFit/>
          </a:bodyPr>
          <a:lstStyle/>
          <a:p>
            <a:pPr>
              <a:spcAft>
                <a:spcPts val="700"/>
              </a:spcAft>
              <a:defRPr sz="2600" b="1">
                <a:solidFill>
                  <a:srgbClr val="0D1B2E"/>
                </a:solidFill>
                <a:latin typeface="Aptos"/>
              </a:defRPr>
            </a:pPr>
            <a:r>
              <a:t>Data preparation &amp; analytical coverage</a:t>
            </a:r>
          </a:p>
        </p:txBody>
      </p:sp>
      <p:sp>
        <p:nvSpPr>
          <p:cNvPr id="5" name="Rectangle 4"/>
          <p:cNvSpPr/>
          <p:nvPr/>
        </p:nvSpPr>
        <p:spPr>
          <a:xfrm>
            <a:off x="502920" y="1234440"/>
            <a:ext cx="11155680" cy="13716"/>
          </a:xfrm>
          <a:prstGeom prst="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64592"/>
          </a:xfrm>
          <a:prstGeom prst="rect">
            <a:avLst/>
          </a:prstGeom>
          <a:noFill/>
        </p:spPr>
        <p:txBody>
          <a:bodyPr wrap="square" lIns="36576" rIns="36576" tIns="36576" bIns="36576">
            <a:spAutoFit/>
          </a:bodyPr>
          <a:lstStyle/>
          <a:p>
            <a:pPr>
              <a:spcAft>
                <a:spcPts val="700"/>
              </a:spcAft>
              <a:defRPr sz="800" b="0">
                <a:solidFill>
                  <a:srgbClr val="AEBECF"/>
                </a:solidFill>
                <a:latin typeface="Aptos"/>
              </a:defRPr>
            </a:pPr>
            <a:r>
              <a:t>Synthetic demonstration data • Results from supplied project outputs</a:t>
            </a:r>
          </a:p>
        </p:txBody>
      </p:sp>
      <p:sp>
        <p:nvSpPr>
          <p:cNvPr id="7" name="TextBox 6"/>
          <p:cNvSpPr txBox="1"/>
          <p:nvPr/>
        </p:nvSpPr>
        <p:spPr>
          <a:xfrm>
            <a:off x="11064240" y="6473952"/>
            <a:ext cx="594360" cy="182880"/>
          </a:xfrm>
          <a:prstGeom prst="rect">
            <a:avLst/>
          </a:prstGeom>
          <a:noFill/>
        </p:spPr>
        <p:txBody>
          <a:bodyPr wrap="square" lIns="36576" rIns="36576" tIns="36576" bIns="36576">
            <a:spAutoFit/>
          </a:bodyPr>
          <a:lstStyle/>
          <a:p>
            <a:pPr algn="r">
              <a:spcAft>
                <a:spcPts val="700"/>
              </a:spcAft>
              <a:defRPr sz="900" b="1">
                <a:solidFill>
                  <a:srgbClr val="AEBECF"/>
                </a:solidFill>
                <a:latin typeface="Aptos"/>
              </a:defRPr>
            </a:pPr>
            <a:r>
              <a:t>05</a:t>
            </a:r>
          </a:p>
        </p:txBody>
      </p:sp>
      <p:sp>
        <p:nvSpPr>
          <p:cNvPr id="8" name="Rounded Rectangle 7"/>
          <p:cNvSpPr/>
          <p:nvPr/>
        </p:nvSpPr>
        <p:spPr>
          <a:xfrm>
            <a:off x="731520" y="1508760"/>
            <a:ext cx="246888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18488"/>
            <a:ext cx="219456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ORDER ROWS</a:t>
            </a:r>
          </a:p>
        </p:txBody>
      </p:sp>
      <p:sp>
        <p:nvSpPr>
          <p:cNvPr id="10" name="TextBox 9"/>
          <p:cNvSpPr txBox="1"/>
          <p:nvPr/>
        </p:nvSpPr>
        <p:spPr>
          <a:xfrm>
            <a:off x="868680" y="1856231"/>
            <a:ext cx="219456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1,800</a:t>
            </a:r>
          </a:p>
        </p:txBody>
      </p:sp>
      <p:sp>
        <p:nvSpPr>
          <p:cNvPr id="11" name="TextBox 10"/>
          <p:cNvSpPr txBox="1"/>
          <p:nvPr/>
        </p:nvSpPr>
        <p:spPr>
          <a:xfrm>
            <a:off x="868680" y="2267712"/>
            <a:ext cx="219456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All order IDs unique</a:t>
            </a:r>
          </a:p>
        </p:txBody>
      </p:sp>
      <p:sp>
        <p:nvSpPr>
          <p:cNvPr id="12" name="Rounded Rectangle 11"/>
          <p:cNvSpPr/>
          <p:nvPr/>
        </p:nvSpPr>
        <p:spPr>
          <a:xfrm>
            <a:off x="3337560" y="1508760"/>
            <a:ext cx="246888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0" y="1618488"/>
            <a:ext cx="219456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DELIVERY DURATION</a:t>
            </a:r>
          </a:p>
        </p:txBody>
      </p:sp>
      <p:sp>
        <p:nvSpPr>
          <p:cNvPr id="14" name="TextBox 13"/>
          <p:cNvSpPr txBox="1"/>
          <p:nvPr/>
        </p:nvSpPr>
        <p:spPr>
          <a:xfrm>
            <a:off x="3474720" y="1856231"/>
            <a:ext cx="219456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1,624</a:t>
            </a:r>
          </a:p>
        </p:txBody>
      </p:sp>
      <p:sp>
        <p:nvSpPr>
          <p:cNvPr id="15" name="TextBox 14"/>
          <p:cNvSpPr txBox="1"/>
          <p:nvPr/>
        </p:nvSpPr>
        <p:spPr>
          <a:xfrm>
            <a:off x="3474720" y="2267712"/>
            <a:ext cx="219456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176 null durations</a:t>
            </a:r>
          </a:p>
        </p:txBody>
      </p:sp>
      <p:sp>
        <p:nvSpPr>
          <p:cNvPr id="16" name="Rounded Rectangle 15"/>
          <p:cNvSpPr/>
          <p:nvPr/>
        </p:nvSpPr>
        <p:spPr>
          <a:xfrm>
            <a:off x="5943600" y="1508760"/>
            <a:ext cx="246888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1618488"/>
            <a:ext cx="219456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REVIEW ROWS</a:t>
            </a:r>
          </a:p>
        </p:txBody>
      </p:sp>
      <p:sp>
        <p:nvSpPr>
          <p:cNvPr id="18" name="TextBox 17"/>
          <p:cNvSpPr txBox="1"/>
          <p:nvPr/>
        </p:nvSpPr>
        <p:spPr>
          <a:xfrm>
            <a:off x="6080760" y="1856231"/>
            <a:ext cx="219456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1,147</a:t>
            </a:r>
          </a:p>
        </p:txBody>
      </p:sp>
      <p:sp>
        <p:nvSpPr>
          <p:cNvPr id="19" name="TextBox 18"/>
          <p:cNvSpPr txBox="1"/>
          <p:nvPr/>
        </p:nvSpPr>
        <p:spPr>
          <a:xfrm>
            <a:off x="6080760" y="2267712"/>
            <a:ext cx="219456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11 distinct review text values</a:t>
            </a:r>
          </a:p>
        </p:txBody>
      </p:sp>
      <p:sp>
        <p:nvSpPr>
          <p:cNvPr id="20" name="Rounded Rectangle 19"/>
          <p:cNvSpPr/>
          <p:nvPr/>
        </p:nvSpPr>
        <p:spPr>
          <a:xfrm>
            <a:off x="8549640" y="1508760"/>
            <a:ext cx="246888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0" y="1618488"/>
            <a:ext cx="219456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AVG ORDER VALUE</a:t>
            </a:r>
          </a:p>
        </p:txBody>
      </p:sp>
      <p:sp>
        <p:nvSpPr>
          <p:cNvPr id="22" name="TextBox 21"/>
          <p:cNvSpPr txBox="1"/>
          <p:nvPr/>
        </p:nvSpPr>
        <p:spPr>
          <a:xfrm>
            <a:off x="8686800" y="1856231"/>
            <a:ext cx="219456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₹536.34</a:t>
            </a:r>
          </a:p>
        </p:txBody>
      </p:sp>
      <p:sp>
        <p:nvSpPr>
          <p:cNvPr id="23" name="TextBox 22"/>
          <p:cNvSpPr txBox="1"/>
          <p:nvPr/>
        </p:nvSpPr>
        <p:spPr>
          <a:xfrm>
            <a:off x="8686800" y="2267712"/>
            <a:ext cx="219456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Median: ₹461.48</a:t>
            </a:r>
          </a:p>
        </p:txBody>
      </p:sp>
      <p:sp>
        <p:nvSpPr>
          <p:cNvPr id="24" name="Rounded Rectangle 23"/>
          <p:cNvSpPr/>
          <p:nvPr/>
        </p:nvSpPr>
        <p:spPr>
          <a:xfrm>
            <a:off x="822960" y="3063240"/>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2971800"/>
            <a:ext cx="10287000" cy="566928"/>
          </a:xfrm>
          <a:prstGeom prst="rect">
            <a:avLst/>
          </a:prstGeom>
          <a:noFill/>
        </p:spPr>
        <p:txBody>
          <a:bodyPr wrap="square" lIns="36576" rIns="36576" tIns="36576" bIns="36576">
            <a:spAutoFit/>
          </a:bodyPr>
          <a:lstStyle/>
          <a:p>
            <a:pPr>
              <a:spcAft>
                <a:spcPts val="700"/>
              </a:spcAft>
              <a:defRPr sz="1500" b="0">
                <a:solidFill>
                  <a:srgbClr val="1D2B3A"/>
                </a:solidFill>
                <a:latin typeface="Aptos"/>
              </a:defRPr>
            </a:pPr>
            <a:r>
              <a:t>Delivery modelling uses completed deliveries with a non-null delivery-time target.</a:t>
            </a:r>
          </a:p>
        </p:txBody>
      </p:sp>
      <p:sp>
        <p:nvSpPr>
          <p:cNvPr id="26" name="Rounded Rectangle 25"/>
          <p:cNvSpPr/>
          <p:nvPr/>
        </p:nvSpPr>
        <p:spPr>
          <a:xfrm>
            <a:off x="822960" y="3666744"/>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2" y="3575304"/>
            <a:ext cx="10287000" cy="566928"/>
          </a:xfrm>
          <a:prstGeom prst="rect">
            <a:avLst/>
          </a:prstGeom>
          <a:noFill/>
        </p:spPr>
        <p:txBody>
          <a:bodyPr wrap="square" lIns="36576" rIns="36576" tIns="36576" bIns="36576">
            <a:spAutoFit/>
          </a:bodyPr>
          <a:lstStyle/>
          <a:p>
            <a:pPr>
              <a:spcAft>
                <a:spcPts val="700"/>
              </a:spcAft>
              <a:defRPr sz="1500" b="0">
                <a:solidFill>
                  <a:srgbClr val="1D2B3A"/>
                </a:solidFill>
                <a:latin typeface="Aptos"/>
              </a:defRPr>
            </a:pPr>
            <a:r>
              <a:t>Order amount ranges from ₹90 to ₹2,200; mean basket value is ₹536.34.</a:t>
            </a:r>
          </a:p>
        </p:txBody>
      </p:sp>
      <p:sp>
        <p:nvSpPr>
          <p:cNvPr id="28" name="Rounded Rectangle 27"/>
          <p:cNvSpPr/>
          <p:nvPr/>
        </p:nvSpPr>
        <p:spPr>
          <a:xfrm>
            <a:off x="822960" y="4270248"/>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4178808"/>
            <a:ext cx="10287000" cy="566928"/>
          </a:xfrm>
          <a:prstGeom prst="rect">
            <a:avLst/>
          </a:prstGeom>
          <a:noFill/>
        </p:spPr>
        <p:txBody>
          <a:bodyPr wrap="square" lIns="36576" rIns="36576" tIns="36576" bIns="36576">
            <a:spAutoFit/>
          </a:bodyPr>
          <a:lstStyle/>
          <a:p>
            <a:pPr>
              <a:spcAft>
                <a:spcPts val="700"/>
              </a:spcAft>
              <a:defRPr sz="1500" b="0">
                <a:solidFill>
                  <a:srgbClr val="1D2B3A"/>
                </a:solidFill>
                <a:latin typeface="Aptos"/>
              </a:defRPr>
            </a:pPr>
            <a:r>
              <a:t>Delivery distance averages 4.32 km; observed delivery duration averages 52.7 minutes.</a:t>
            </a:r>
          </a:p>
        </p:txBody>
      </p:sp>
      <p:sp>
        <p:nvSpPr>
          <p:cNvPr id="30" name="Rounded Rectangle 29"/>
          <p:cNvSpPr/>
          <p:nvPr/>
        </p:nvSpPr>
        <p:spPr>
          <a:xfrm>
            <a:off x="822960" y="4873752"/>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3272" y="4782312"/>
            <a:ext cx="10287000" cy="566928"/>
          </a:xfrm>
          <a:prstGeom prst="rect">
            <a:avLst/>
          </a:prstGeom>
          <a:noFill/>
        </p:spPr>
        <p:txBody>
          <a:bodyPr wrap="square" lIns="36576" rIns="36576" tIns="36576" bIns="36576">
            <a:spAutoFit/>
          </a:bodyPr>
          <a:lstStyle/>
          <a:p>
            <a:pPr>
              <a:spcAft>
                <a:spcPts val="700"/>
              </a:spcAft>
              <a:defRPr sz="1500" b="0">
                <a:solidFill>
                  <a:srgbClr val="1D2B3A"/>
                </a:solidFill>
                <a:latin typeface="Aptos"/>
              </a:defRPr>
            </a:pPr>
            <a:r>
              <a:t>Reviews were assigned sentiment from star ratings: 4–5 positive, 3 neutral, 1–2 negative.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28600"/>
          </a:xfrm>
          <a:prstGeom prst="rect">
            <a:avLst/>
          </a:prstGeom>
          <a:noFill/>
        </p:spPr>
        <p:txBody>
          <a:bodyPr wrap="square" lIns="36576" rIns="36576" tIns="36576" bIns="36576">
            <a:spAutoFit/>
          </a:bodyPr>
          <a:lstStyle/>
          <a:p>
            <a:pPr>
              <a:spcAft>
                <a:spcPts val="700"/>
              </a:spcAft>
              <a:defRPr sz="900" b="1">
                <a:solidFill>
                  <a:srgbClr val="19B0A0"/>
                </a:solidFill>
                <a:latin typeface="Aptos"/>
              </a:defRPr>
            </a:pPr>
            <a:r>
              <a:t>UBER EATS • CAPSTONE</a:t>
            </a:r>
          </a:p>
        </p:txBody>
      </p:sp>
      <p:sp>
        <p:nvSpPr>
          <p:cNvPr id="4" name="TextBox 3"/>
          <p:cNvSpPr txBox="1"/>
          <p:nvPr/>
        </p:nvSpPr>
        <p:spPr>
          <a:xfrm>
            <a:off x="502920" y="566928"/>
            <a:ext cx="11155680" cy="566928"/>
          </a:xfrm>
          <a:prstGeom prst="rect">
            <a:avLst/>
          </a:prstGeom>
          <a:noFill/>
        </p:spPr>
        <p:txBody>
          <a:bodyPr wrap="square" lIns="36576" rIns="36576" tIns="36576" bIns="36576">
            <a:spAutoFit/>
          </a:bodyPr>
          <a:lstStyle/>
          <a:p>
            <a:pPr>
              <a:spcAft>
                <a:spcPts val="700"/>
              </a:spcAft>
              <a:defRPr sz="2600" b="1">
                <a:solidFill>
                  <a:srgbClr val="0D1B2E"/>
                </a:solidFill>
                <a:latin typeface="Aptos"/>
              </a:defRPr>
            </a:pPr>
            <a:r>
              <a:t>Customer segmentation: three behavioural groups</a:t>
            </a:r>
          </a:p>
        </p:txBody>
      </p:sp>
      <p:sp>
        <p:nvSpPr>
          <p:cNvPr id="5" name="Rectangle 4"/>
          <p:cNvSpPr/>
          <p:nvPr/>
        </p:nvSpPr>
        <p:spPr>
          <a:xfrm>
            <a:off x="502920" y="1234440"/>
            <a:ext cx="11155680" cy="13716"/>
          </a:xfrm>
          <a:prstGeom prst="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64592"/>
          </a:xfrm>
          <a:prstGeom prst="rect">
            <a:avLst/>
          </a:prstGeom>
          <a:noFill/>
        </p:spPr>
        <p:txBody>
          <a:bodyPr wrap="square" lIns="36576" rIns="36576" tIns="36576" bIns="36576">
            <a:spAutoFit/>
          </a:bodyPr>
          <a:lstStyle/>
          <a:p>
            <a:pPr>
              <a:spcAft>
                <a:spcPts val="700"/>
              </a:spcAft>
              <a:defRPr sz="800" b="0">
                <a:solidFill>
                  <a:srgbClr val="AEBECF"/>
                </a:solidFill>
                <a:latin typeface="Aptos"/>
              </a:defRPr>
            </a:pPr>
            <a:r>
              <a:t>Synthetic demonstration data • Results from supplied project outputs</a:t>
            </a:r>
          </a:p>
        </p:txBody>
      </p:sp>
      <p:sp>
        <p:nvSpPr>
          <p:cNvPr id="7" name="TextBox 6"/>
          <p:cNvSpPr txBox="1"/>
          <p:nvPr/>
        </p:nvSpPr>
        <p:spPr>
          <a:xfrm>
            <a:off x="11064240" y="6473952"/>
            <a:ext cx="594360" cy="182880"/>
          </a:xfrm>
          <a:prstGeom prst="rect">
            <a:avLst/>
          </a:prstGeom>
          <a:noFill/>
        </p:spPr>
        <p:txBody>
          <a:bodyPr wrap="square" lIns="36576" rIns="36576" tIns="36576" bIns="36576">
            <a:spAutoFit/>
          </a:bodyPr>
          <a:lstStyle/>
          <a:p>
            <a:pPr algn="r">
              <a:spcAft>
                <a:spcPts val="700"/>
              </a:spcAft>
              <a:defRPr sz="900" b="1">
                <a:solidFill>
                  <a:srgbClr val="AEBECF"/>
                </a:solidFill>
                <a:latin typeface="Aptos"/>
              </a:defRPr>
            </a:pPr>
            <a:r>
              <a:t>06</a:t>
            </a:r>
          </a:p>
        </p:txBody>
      </p:sp>
      <p:pic>
        <p:nvPicPr>
          <p:cNvPr id="8" name="Picture 7" descr="customer_segments.png"/>
          <p:cNvPicPr>
            <a:picLocks noChangeAspect="1"/>
          </p:cNvPicPr>
          <p:nvPr/>
        </p:nvPicPr>
        <p:blipFill>
          <a:blip r:embed="rId2"/>
          <a:stretch>
            <a:fillRect/>
          </a:stretch>
        </p:blipFill>
        <p:spPr>
          <a:xfrm>
            <a:off x="594360" y="1508760"/>
            <a:ext cx="5669280" cy="3246120"/>
          </a:xfrm>
          <a:prstGeom prst="rect">
            <a:avLst/>
          </a:prstGeom>
        </p:spPr>
      </p:pic>
      <p:pic>
        <p:nvPicPr>
          <p:cNvPr id="9" name="Picture 8" descr="customer_pca_kmeans.png"/>
          <p:cNvPicPr>
            <a:picLocks noChangeAspect="1"/>
          </p:cNvPicPr>
          <p:nvPr/>
        </p:nvPicPr>
        <p:blipFill>
          <a:blip r:embed="rId3"/>
          <a:stretch>
            <a:fillRect/>
          </a:stretch>
        </p:blipFill>
        <p:spPr>
          <a:xfrm>
            <a:off x="6309360" y="1508760"/>
            <a:ext cx="5257800" cy="3246120"/>
          </a:xfrm>
          <a:prstGeom prst="rect">
            <a:avLst/>
          </a:prstGeom>
        </p:spPr>
      </p:pic>
      <p:sp>
        <p:nvSpPr>
          <p:cNvPr id="10" name="TextBox 9"/>
          <p:cNvSpPr txBox="1"/>
          <p:nvPr/>
        </p:nvSpPr>
        <p:spPr>
          <a:xfrm>
            <a:off x="777240" y="4983480"/>
            <a:ext cx="10698480" cy="868680"/>
          </a:xfrm>
          <a:prstGeom prst="rect">
            <a:avLst/>
          </a:prstGeom>
          <a:noFill/>
        </p:spPr>
        <p:txBody>
          <a:bodyPr wrap="square" lIns="36576" rIns="36576" tIns="36576" bIns="36576">
            <a:spAutoFit/>
          </a:bodyPr>
          <a:lstStyle/>
          <a:p>
            <a:pPr>
              <a:spcAft>
                <a:spcPts val="700"/>
              </a:spcAft>
              <a:defRPr sz="1300" b="1">
                <a:solidFill>
                  <a:srgbClr val="0D1B2E"/>
                </a:solidFill>
                <a:latin typeface="Aptos"/>
              </a:defRPr>
            </a:pPr>
            <a:r>
              <a:t>Cluster sizes: 163 (54.3%) Occasional Budget Customers • 128 (42.7%) Premium Frequent Diners • 9 (3.0%) small third cluster. The third cluster's frequency feature appears inconsistent with its low total-order count; validate feature engineering before assigning a business interpretation.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28600"/>
          </a:xfrm>
          <a:prstGeom prst="rect">
            <a:avLst/>
          </a:prstGeom>
          <a:noFill/>
        </p:spPr>
        <p:txBody>
          <a:bodyPr wrap="square" lIns="36576" rIns="36576" tIns="36576" bIns="36576">
            <a:spAutoFit/>
          </a:bodyPr>
          <a:lstStyle/>
          <a:p>
            <a:pPr>
              <a:spcAft>
                <a:spcPts val="700"/>
              </a:spcAft>
              <a:defRPr sz="900" b="1">
                <a:solidFill>
                  <a:srgbClr val="19B0A0"/>
                </a:solidFill>
                <a:latin typeface="Aptos"/>
              </a:defRPr>
            </a:pPr>
            <a:r>
              <a:t>UBER EATS • CAPSTONE</a:t>
            </a:r>
          </a:p>
        </p:txBody>
      </p:sp>
      <p:sp>
        <p:nvSpPr>
          <p:cNvPr id="4" name="TextBox 3"/>
          <p:cNvSpPr txBox="1"/>
          <p:nvPr/>
        </p:nvSpPr>
        <p:spPr>
          <a:xfrm>
            <a:off x="502920" y="566928"/>
            <a:ext cx="11155680" cy="566928"/>
          </a:xfrm>
          <a:prstGeom prst="rect">
            <a:avLst/>
          </a:prstGeom>
          <a:noFill/>
        </p:spPr>
        <p:txBody>
          <a:bodyPr wrap="square" lIns="36576" rIns="36576" tIns="36576" bIns="36576">
            <a:spAutoFit/>
          </a:bodyPr>
          <a:lstStyle/>
          <a:p>
            <a:pPr>
              <a:spcAft>
                <a:spcPts val="700"/>
              </a:spcAft>
              <a:defRPr sz="2600" b="1">
                <a:solidFill>
                  <a:srgbClr val="0D1B2E"/>
                </a:solidFill>
                <a:latin typeface="Aptos"/>
              </a:defRPr>
            </a:pPr>
            <a:r>
              <a:t>Restaurant segmentation: operational profiles</a:t>
            </a:r>
          </a:p>
        </p:txBody>
      </p:sp>
      <p:sp>
        <p:nvSpPr>
          <p:cNvPr id="5" name="Rectangle 4"/>
          <p:cNvSpPr/>
          <p:nvPr/>
        </p:nvSpPr>
        <p:spPr>
          <a:xfrm>
            <a:off x="502920" y="1234440"/>
            <a:ext cx="11155680" cy="13716"/>
          </a:xfrm>
          <a:prstGeom prst="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64592"/>
          </a:xfrm>
          <a:prstGeom prst="rect">
            <a:avLst/>
          </a:prstGeom>
          <a:noFill/>
        </p:spPr>
        <p:txBody>
          <a:bodyPr wrap="square" lIns="36576" rIns="36576" tIns="36576" bIns="36576">
            <a:spAutoFit/>
          </a:bodyPr>
          <a:lstStyle/>
          <a:p>
            <a:pPr>
              <a:spcAft>
                <a:spcPts val="700"/>
              </a:spcAft>
              <a:defRPr sz="800" b="0">
                <a:solidFill>
                  <a:srgbClr val="AEBECF"/>
                </a:solidFill>
                <a:latin typeface="Aptos"/>
              </a:defRPr>
            </a:pPr>
            <a:r>
              <a:t>Synthetic demonstration data • Results from supplied project outputs</a:t>
            </a:r>
          </a:p>
        </p:txBody>
      </p:sp>
      <p:sp>
        <p:nvSpPr>
          <p:cNvPr id="7" name="TextBox 6"/>
          <p:cNvSpPr txBox="1"/>
          <p:nvPr/>
        </p:nvSpPr>
        <p:spPr>
          <a:xfrm>
            <a:off x="11064240" y="6473952"/>
            <a:ext cx="594360" cy="182880"/>
          </a:xfrm>
          <a:prstGeom prst="rect">
            <a:avLst/>
          </a:prstGeom>
          <a:noFill/>
        </p:spPr>
        <p:txBody>
          <a:bodyPr wrap="square" lIns="36576" rIns="36576" tIns="36576" bIns="36576">
            <a:spAutoFit/>
          </a:bodyPr>
          <a:lstStyle/>
          <a:p>
            <a:pPr algn="r">
              <a:spcAft>
                <a:spcPts val="700"/>
              </a:spcAft>
              <a:defRPr sz="900" b="1">
                <a:solidFill>
                  <a:srgbClr val="AEBECF"/>
                </a:solidFill>
                <a:latin typeface="Aptos"/>
              </a:defRPr>
            </a:pPr>
            <a:r>
              <a:t>07</a:t>
            </a:r>
          </a:p>
        </p:txBody>
      </p:sp>
      <p:pic>
        <p:nvPicPr>
          <p:cNvPr id="8" name="Picture 7" descr="restaurant_segments.png"/>
          <p:cNvPicPr>
            <a:picLocks noChangeAspect="1"/>
          </p:cNvPicPr>
          <p:nvPr/>
        </p:nvPicPr>
        <p:blipFill>
          <a:blip r:embed="rId2"/>
          <a:stretch>
            <a:fillRect/>
          </a:stretch>
        </p:blipFill>
        <p:spPr>
          <a:xfrm>
            <a:off x="594360" y="1508760"/>
            <a:ext cx="5669280" cy="3246120"/>
          </a:xfrm>
          <a:prstGeom prst="rect">
            <a:avLst/>
          </a:prstGeom>
        </p:spPr>
      </p:pic>
      <p:pic>
        <p:nvPicPr>
          <p:cNvPr id="9" name="Picture 8" descr="restaurant_pca_kmeans.png"/>
          <p:cNvPicPr>
            <a:picLocks noChangeAspect="1"/>
          </p:cNvPicPr>
          <p:nvPr/>
        </p:nvPicPr>
        <p:blipFill>
          <a:blip r:embed="rId3"/>
          <a:stretch>
            <a:fillRect/>
          </a:stretch>
        </p:blipFill>
        <p:spPr>
          <a:xfrm>
            <a:off x="6309360" y="1508760"/>
            <a:ext cx="5257800" cy="3246120"/>
          </a:xfrm>
          <a:prstGeom prst="rect">
            <a:avLst/>
          </a:prstGeom>
        </p:spPr>
      </p:pic>
      <p:sp>
        <p:nvSpPr>
          <p:cNvPr id="10" name="TextBox 9"/>
          <p:cNvSpPr txBox="1"/>
          <p:nvPr/>
        </p:nvSpPr>
        <p:spPr>
          <a:xfrm>
            <a:off x="777240" y="4983480"/>
            <a:ext cx="10698480" cy="960120"/>
          </a:xfrm>
          <a:prstGeom prst="rect">
            <a:avLst/>
          </a:prstGeom>
          <a:noFill/>
        </p:spPr>
        <p:txBody>
          <a:bodyPr wrap="square" lIns="36576" rIns="36576" tIns="36576" bIns="36576">
            <a:spAutoFit/>
          </a:bodyPr>
          <a:lstStyle/>
          <a:p>
            <a:pPr>
              <a:spcAft>
                <a:spcPts val="700"/>
              </a:spcAft>
              <a:defRPr sz="1300" b="1">
                <a:solidFill>
                  <a:srgbClr val="0D1B2E"/>
                </a:solidFill>
                <a:latin typeface="Aptos"/>
              </a:defRPr>
            </a:pPr>
            <a:r>
              <a:t>11 restaurants (24.4%) are labelled Operationally Slower (avg prep 28.18 min; rating 3.53). 21 (46.7%) are Lower-Volume / Developing (prep 15.14 min; rating 3.86). 13 (28.9%) are High-Volume Improvement Needed (avg orders 46.85; rating 3.46). Profiles are descriptive, not causal diagnoses.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28600"/>
          </a:xfrm>
          <a:prstGeom prst="rect">
            <a:avLst/>
          </a:prstGeom>
          <a:noFill/>
        </p:spPr>
        <p:txBody>
          <a:bodyPr wrap="square" lIns="36576" rIns="36576" tIns="36576" bIns="36576">
            <a:spAutoFit/>
          </a:bodyPr>
          <a:lstStyle/>
          <a:p>
            <a:pPr>
              <a:spcAft>
                <a:spcPts val="700"/>
              </a:spcAft>
              <a:defRPr sz="900" b="1">
                <a:solidFill>
                  <a:srgbClr val="19B0A0"/>
                </a:solidFill>
                <a:latin typeface="Aptos"/>
              </a:defRPr>
            </a:pPr>
            <a:r>
              <a:t>UBER EATS • CAPSTONE</a:t>
            </a:r>
          </a:p>
        </p:txBody>
      </p:sp>
      <p:sp>
        <p:nvSpPr>
          <p:cNvPr id="4" name="TextBox 3"/>
          <p:cNvSpPr txBox="1"/>
          <p:nvPr/>
        </p:nvSpPr>
        <p:spPr>
          <a:xfrm>
            <a:off x="502920" y="566928"/>
            <a:ext cx="11155680" cy="566928"/>
          </a:xfrm>
          <a:prstGeom prst="rect">
            <a:avLst/>
          </a:prstGeom>
          <a:noFill/>
        </p:spPr>
        <p:txBody>
          <a:bodyPr wrap="square" lIns="36576" rIns="36576" tIns="36576" bIns="36576">
            <a:spAutoFit/>
          </a:bodyPr>
          <a:lstStyle/>
          <a:p>
            <a:pPr>
              <a:spcAft>
                <a:spcPts val="700"/>
              </a:spcAft>
              <a:defRPr sz="2600" b="1">
                <a:solidFill>
                  <a:srgbClr val="0D1B2E"/>
                </a:solidFill>
                <a:latin typeface="Aptos"/>
              </a:defRPr>
            </a:pPr>
            <a:r>
              <a:t>Customer feedback: sentiment distribution</a:t>
            </a:r>
          </a:p>
        </p:txBody>
      </p:sp>
      <p:sp>
        <p:nvSpPr>
          <p:cNvPr id="5" name="Rectangle 4"/>
          <p:cNvSpPr/>
          <p:nvPr/>
        </p:nvSpPr>
        <p:spPr>
          <a:xfrm>
            <a:off x="502920" y="1234440"/>
            <a:ext cx="11155680" cy="13716"/>
          </a:xfrm>
          <a:prstGeom prst="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64592"/>
          </a:xfrm>
          <a:prstGeom prst="rect">
            <a:avLst/>
          </a:prstGeom>
          <a:noFill/>
        </p:spPr>
        <p:txBody>
          <a:bodyPr wrap="square" lIns="36576" rIns="36576" tIns="36576" bIns="36576">
            <a:spAutoFit/>
          </a:bodyPr>
          <a:lstStyle/>
          <a:p>
            <a:pPr>
              <a:spcAft>
                <a:spcPts val="700"/>
              </a:spcAft>
              <a:defRPr sz="800" b="0">
                <a:solidFill>
                  <a:srgbClr val="AEBECF"/>
                </a:solidFill>
                <a:latin typeface="Aptos"/>
              </a:defRPr>
            </a:pPr>
            <a:r>
              <a:t>Synthetic demonstration data • Results from supplied project outputs</a:t>
            </a:r>
          </a:p>
        </p:txBody>
      </p:sp>
      <p:sp>
        <p:nvSpPr>
          <p:cNvPr id="7" name="TextBox 6"/>
          <p:cNvSpPr txBox="1"/>
          <p:nvPr/>
        </p:nvSpPr>
        <p:spPr>
          <a:xfrm>
            <a:off x="11064240" y="6473952"/>
            <a:ext cx="594360" cy="182880"/>
          </a:xfrm>
          <a:prstGeom prst="rect">
            <a:avLst/>
          </a:prstGeom>
          <a:noFill/>
        </p:spPr>
        <p:txBody>
          <a:bodyPr wrap="square" lIns="36576" rIns="36576" tIns="36576" bIns="36576">
            <a:spAutoFit/>
          </a:bodyPr>
          <a:lstStyle/>
          <a:p>
            <a:pPr algn="r">
              <a:spcAft>
                <a:spcPts val="700"/>
              </a:spcAft>
              <a:defRPr sz="900" b="1">
                <a:solidFill>
                  <a:srgbClr val="AEBECF"/>
                </a:solidFill>
                <a:latin typeface="Aptos"/>
              </a:defRPr>
            </a:pPr>
            <a:r>
              <a:t>08</a:t>
            </a:r>
          </a:p>
        </p:txBody>
      </p:sp>
      <p:pic>
        <p:nvPicPr>
          <p:cNvPr id="8" name="Picture 7" descr="sentiment.png"/>
          <p:cNvPicPr>
            <a:picLocks noChangeAspect="1"/>
          </p:cNvPicPr>
          <p:nvPr/>
        </p:nvPicPr>
        <p:blipFill>
          <a:blip r:embed="rId2"/>
          <a:stretch>
            <a:fillRect/>
          </a:stretch>
        </p:blipFill>
        <p:spPr>
          <a:xfrm>
            <a:off x="640080" y="1600200"/>
            <a:ext cx="5486400" cy="3337560"/>
          </a:xfrm>
          <a:prstGeom prst="rect">
            <a:avLst/>
          </a:prstGeom>
        </p:spPr>
      </p:pic>
      <p:sp>
        <p:nvSpPr>
          <p:cNvPr id="9" name="Rounded Rectangle 8"/>
          <p:cNvSpPr/>
          <p:nvPr/>
        </p:nvSpPr>
        <p:spPr>
          <a:xfrm>
            <a:off x="6492240" y="1645920"/>
            <a:ext cx="214884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29400" y="1755648"/>
            <a:ext cx="187452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POSITIVE</a:t>
            </a:r>
          </a:p>
        </p:txBody>
      </p:sp>
      <p:sp>
        <p:nvSpPr>
          <p:cNvPr id="11" name="TextBox 10"/>
          <p:cNvSpPr txBox="1"/>
          <p:nvPr/>
        </p:nvSpPr>
        <p:spPr>
          <a:xfrm>
            <a:off x="6629400" y="1993392"/>
            <a:ext cx="187452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686</a:t>
            </a:r>
          </a:p>
        </p:txBody>
      </p:sp>
      <p:sp>
        <p:nvSpPr>
          <p:cNvPr id="12" name="TextBox 11"/>
          <p:cNvSpPr txBox="1"/>
          <p:nvPr/>
        </p:nvSpPr>
        <p:spPr>
          <a:xfrm>
            <a:off x="6629400" y="2404872"/>
            <a:ext cx="187452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59.8%</a:t>
            </a:r>
          </a:p>
        </p:txBody>
      </p:sp>
      <p:sp>
        <p:nvSpPr>
          <p:cNvPr id="13" name="Rounded Rectangle 12"/>
          <p:cNvSpPr/>
          <p:nvPr/>
        </p:nvSpPr>
        <p:spPr>
          <a:xfrm>
            <a:off x="8823960" y="1645920"/>
            <a:ext cx="214884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0" y="1755648"/>
            <a:ext cx="187452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NEUTRAL</a:t>
            </a:r>
          </a:p>
        </p:txBody>
      </p:sp>
      <p:sp>
        <p:nvSpPr>
          <p:cNvPr id="15" name="TextBox 14"/>
          <p:cNvSpPr txBox="1"/>
          <p:nvPr/>
        </p:nvSpPr>
        <p:spPr>
          <a:xfrm>
            <a:off x="8961120" y="1993392"/>
            <a:ext cx="187452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327</a:t>
            </a:r>
          </a:p>
        </p:txBody>
      </p:sp>
      <p:sp>
        <p:nvSpPr>
          <p:cNvPr id="16" name="TextBox 15"/>
          <p:cNvSpPr txBox="1"/>
          <p:nvPr/>
        </p:nvSpPr>
        <p:spPr>
          <a:xfrm>
            <a:off x="8961120" y="2404872"/>
            <a:ext cx="187452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28.5%</a:t>
            </a:r>
          </a:p>
        </p:txBody>
      </p:sp>
      <p:sp>
        <p:nvSpPr>
          <p:cNvPr id="17" name="Rounded Rectangle 16"/>
          <p:cNvSpPr/>
          <p:nvPr/>
        </p:nvSpPr>
        <p:spPr>
          <a:xfrm>
            <a:off x="6492240" y="2880360"/>
            <a:ext cx="214884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2990088"/>
            <a:ext cx="187452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NEGATIVE</a:t>
            </a:r>
          </a:p>
        </p:txBody>
      </p:sp>
      <p:sp>
        <p:nvSpPr>
          <p:cNvPr id="19" name="TextBox 18"/>
          <p:cNvSpPr txBox="1"/>
          <p:nvPr/>
        </p:nvSpPr>
        <p:spPr>
          <a:xfrm>
            <a:off x="6629400" y="3227832"/>
            <a:ext cx="187452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134</a:t>
            </a:r>
          </a:p>
        </p:txBody>
      </p:sp>
      <p:sp>
        <p:nvSpPr>
          <p:cNvPr id="20" name="TextBox 19"/>
          <p:cNvSpPr txBox="1"/>
          <p:nvPr/>
        </p:nvSpPr>
        <p:spPr>
          <a:xfrm>
            <a:off x="6629400" y="3639312"/>
            <a:ext cx="187452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11.7%</a:t>
            </a:r>
          </a:p>
        </p:txBody>
      </p:sp>
      <p:sp>
        <p:nvSpPr>
          <p:cNvPr id="21" name="TextBox 20"/>
          <p:cNvSpPr txBox="1"/>
          <p:nvPr/>
        </p:nvSpPr>
        <p:spPr>
          <a:xfrm>
            <a:off x="8823960" y="2926080"/>
            <a:ext cx="2148840" cy="914400"/>
          </a:xfrm>
          <a:prstGeom prst="rect">
            <a:avLst/>
          </a:prstGeom>
          <a:noFill/>
        </p:spPr>
        <p:txBody>
          <a:bodyPr wrap="square" lIns="36576" rIns="36576" tIns="36576" bIns="36576">
            <a:spAutoFit/>
          </a:bodyPr>
          <a:lstStyle/>
          <a:p>
            <a:pPr>
              <a:spcAft>
                <a:spcPts val="700"/>
              </a:spcAft>
              <a:defRPr sz="1700" b="1">
                <a:solidFill>
                  <a:srgbClr val="0D1B2E"/>
                </a:solidFill>
                <a:latin typeface="Aptos"/>
              </a:defRPr>
            </a:pPr>
            <a:r>
              <a:t>Average rating</a:t>
            </a:r>
          </a:p>
          <a:p>
            <a:pPr>
              <a:spcAft>
                <a:spcPts val="700"/>
              </a:spcAft>
              <a:defRPr sz="1700" b="1">
                <a:solidFill>
                  <a:srgbClr val="0D1B2E"/>
                </a:solidFill>
                <a:latin typeface="Aptos"/>
              </a:defRPr>
            </a:pPr>
            <a:r>
              <a:t>3.67 / 5</a:t>
            </a:r>
          </a:p>
        </p:txBody>
      </p:sp>
      <p:sp>
        <p:nvSpPr>
          <p:cNvPr id="22" name="TextBox 21"/>
          <p:cNvSpPr txBox="1"/>
          <p:nvPr/>
        </p:nvSpPr>
        <p:spPr>
          <a:xfrm>
            <a:off x="822960" y="5257800"/>
            <a:ext cx="10424160" cy="685800"/>
          </a:xfrm>
          <a:prstGeom prst="rect">
            <a:avLst/>
          </a:prstGeom>
          <a:noFill/>
        </p:spPr>
        <p:txBody>
          <a:bodyPr wrap="square" lIns="36576" rIns="36576" tIns="36576" bIns="36576">
            <a:spAutoFit/>
          </a:bodyPr>
          <a:lstStyle/>
          <a:p>
            <a:pPr>
              <a:spcAft>
                <a:spcPts val="700"/>
              </a:spcAft>
              <a:defRPr sz="1300" b="0">
                <a:solidFill>
                  <a:srgbClr val="1D2B3A"/>
                </a:solidFill>
                <a:latin typeface="Aptos"/>
              </a:defRPr>
            </a:pPr>
            <a:r>
              <a:t>Most frequent negative-review terms include food, packaging, damaged, support, slow, delivery, late and cold. Treat these as exploratory themes and inspect original comments before action.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28600"/>
          </a:xfrm>
          <a:prstGeom prst="rect">
            <a:avLst/>
          </a:prstGeom>
          <a:noFill/>
        </p:spPr>
        <p:txBody>
          <a:bodyPr wrap="square" lIns="36576" rIns="36576" tIns="36576" bIns="36576">
            <a:spAutoFit/>
          </a:bodyPr>
          <a:lstStyle/>
          <a:p>
            <a:pPr>
              <a:spcAft>
                <a:spcPts val="700"/>
              </a:spcAft>
              <a:defRPr sz="900" b="1">
                <a:solidFill>
                  <a:srgbClr val="19B0A0"/>
                </a:solidFill>
                <a:latin typeface="Aptos"/>
              </a:defRPr>
            </a:pPr>
            <a:r>
              <a:t>UBER EATS • CAPSTONE</a:t>
            </a:r>
          </a:p>
        </p:txBody>
      </p:sp>
      <p:sp>
        <p:nvSpPr>
          <p:cNvPr id="4" name="TextBox 3"/>
          <p:cNvSpPr txBox="1"/>
          <p:nvPr/>
        </p:nvSpPr>
        <p:spPr>
          <a:xfrm>
            <a:off x="502920" y="566928"/>
            <a:ext cx="11155680" cy="566928"/>
          </a:xfrm>
          <a:prstGeom prst="rect">
            <a:avLst/>
          </a:prstGeom>
          <a:noFill/>
        </p:spPr>
        <p:txBody>
          <a:bodyPr wrap="square" lIns="36576" rIns="36576" tIns="36576" bIns="36576">
            <a:spAutoFit/>
          </a:bodyPr>
          <a:lstStyle/>
          <a:p>
            <a:pPr>
              <a:spcAft>
                <a:spcPts val="700"/>
              </a:spcAft>
              <a:defRPr sz="2600" b="1">
                <a:solidFill>
                  <a:srgbClr val="0D1B2E"/>
                </a:solidFill>
                <a:latin typeface="Aptos"/>
              </a:defRPr>
            </a:pPr>
            <a:r>
              <a:t>NLP model: perfect score, important caveat</a:t>
            </a:r>
          </a:p>
        </p:txBody>
      </p:sp>
      <p:sp>
        <p:nvSpPr>
          <p:cNvPr id="5" name="Rectangle 4"/>
          <p:cNvSpPr/>
          <p:nvPr/>
        </p:nvSpPr>
        <p:spPr>
          <a:xfrm>
            <a:off x="502920" y="1234440"/>
            <a:ext cx="11155680" cy="13716"/>
          </a:xfrm>
          <a:prstGeom prst="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64592"/>
          </a:xfrm>
          <a:prstGeom prst="rect">
            <a:avLst/>
          </a:prstGeom>
          <a:noFill/>
        </p:spPr>
        <p:txBody>
          <a:bodyPr wrap="square" lIns="36576" rIns="36576" tIns="36576" bIns="36576">
            <a:spAutoFit/>
          </a:bodyPr>
          <a:lstStyle/>
          <a:p>
            <a:pPr>
              <a:spcAft>
                <a:spcPts val="700"/>
              </a:spcAft>
              <a:defRPr sz="800" b="0">
                <a:solidFill>
                  <a:srgbClr val="AEBECF"/>
                </a:solidFill>
                <a:latin typeface="Aptos"/>
              </a:defRPr>
            </a:pPr>
            <a:r>
              <a:t>Synthetic demonstration data • Results from supplied project outputs</a:t>
            </a:r>
          </a:p>
        </p:txBody>
      </p:sp>
      <p:sp>
        <p:nvSpPr>
          <p:cNvPr id="7" name="TextBox 6"/>
          <p:cNvSpPr txBox="1"/>
          <p:nvPr/>
        </p:nvSpPr>
        <p:spPr>
          <a:xfrm>
            <a:off x="11064240" y="6473952"/>
            <a:ext cx="594360" cy="182880"/>
          </a:xfrm>
          <a:prstGeom prst="rect">
            <a:avLst/>
          </a:prstGeom>
          <a:noFill/>
        </p:spPr>
        <p:txBody>
          <a:bodyPr wrap="square" lIns="36576" rIns="36576" tIns="36576" bIns="36576">
            <a:spAutoFit/>
          </a:bodyPr>
          <a:lstStyle/>
          <a:p>
            <a:pPr algn="r">
              <a:spcAft>
                <a:spcPts val="700"/>
              </a:spcAft>
              <a:defRPr sz="900" b="1">
                <a:solidFill>
                  <a:srgbClr val="AEBECF"/>
                </a:solidFill>
                <a:latin typeface="Aptos"/>
              </a:defRPr>
            </a:pPr>
            <a:r>
              <a:t>09</a:t>
            </a:r>
          </a:p>
        </p:txBody>
      </p:sp>
      <p:sp>
        <p:nvSpPr>
          <p:cNvPr id="8" name="Rounded Rectangle 7"/>
          <p:cNvSpPr/>
          <p:nvPr/>
        </p:nvSpPr>
        <p:spPr>
          <a:xfrm>
            <a:off x="777240" y="1600200"/>
            <a:ext cx="246888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09928"/>
            <a:ext cx="219456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ACCURACY</a:t>
            </a:r>
          </a:p>
        </p:txBody>
      </p:sp>
      <p:sp>
        <p:nvSpPr>
          <p:cNvPr id="10" name="TextBox 9"/>
          <p:cNvSpPr txBox="1"/>
          <p:nvPr/>
        </p:nvSpPr>
        <p:spPr>
          <a:xfrm>
            <a:off x="914400" y="1947672"/>
            <a:ext cx="219456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100%</a:t>
            </a:r>
          </a:p>
        </p:txBody>
      </p:sp>
      <p:sp>
        <p:nvSpPr>
          <p:cNvPr id="11" name="TextBox 10"/>
          <p:cNvSpPr txBox="1"/>
          <p:nvPr/>
        </p:nvSpPr>
        <p:spPr>
          <a:xfrm>
            <a:off x="914400" y="2359152"/>
            <a:ext cx="219456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Saved test metric</a:t>
            </a:r>
          </a:p>
        </p:txBody>
      </p:sp>
      <p:sp>
        <p:nvSpPr>
          <p:cNvPr id="12" name="Rounded Rectangle 11"/>
          <p:cNvSpPr/>
          <p:nvPr/>
        </p:nvSpPr>
        <p:spPr>
          <a:xfrm>
            <a:off x="3429000" y="1600200"/>
            <a:ext cx="246888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1709928"/>
            <a:ext cx="219456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WEIGHTED F1</a:t>
            </a:r>
          </a:p>
        </p:txBody>
      </p:sp>
      <p:sp>
        <p:nvSpPr>
          <p:cNvPr id="14" name="TextBox 13"/>
          <p:cNvSpPr txBox="1"/>
          <p:nvPr/>
        </p:nvSpPr>
        <p:spPr>
          <a:xfrm>
            <a:off x="3566160" y="1947672"/>
            <a:ext cx="219456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1.000</a:t>
            </a:r>
          </a:p>
        </p:txBody>
      </p:sp>
      <p:sp>
        <p:nvSpPr>
          <p:cNvPr id="15" name="TextBox 14"/>
          <p:cNvSpPr txBox="1"/>
          <p:nvPr/>
        </p:nvSpPr>
        <p:spPr>
          <a:xfrm>
            <a:off x="3566160" y="2359152"/>
            <a:ext cx="219456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TF-IDF + MultinomialNB</a:t>
            </a:r>
          </a:p>
        </p:txBody>
      </p:sp>
      <p:sp>
        <p:nvSpPr>
          <p:cNvPr id="16" name="Rounded Rectangle 15"/>
          <p:cNvSpPr/>
          <p:nvPr/>
        </p:nvSpPr>
        <p:spPr>
          <a:xfrm>
            <a:off x="6080760" y="1600200"/>
            <a:ext cx="246888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0" y="1709928"/>
            <a:ext cx="219456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TRAIN/TEST SPLIT</a:t>
            </a:r>
          </a:p>
        </p:txBody>
      </p:sp>
      <p:sp>
        <p:nvSpPr>
          <p:cNvPr id="18" name="TextBox 17"/>
          <p:cNvSpPr txBox="1"/>
          <p:nvPr/>
        </p:nvSpPr>
        <p:spPr>
          <a:xfrm>
            <a:off x="6217920" y="1947672"/>
            <a:ext cx="219456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75 / 25</a:t>
            </a:r>
          </a:p>
        </p:txBody>
      </p:sp>
      <p:sp>
        <p:nvSpPr>
          <p:cNvPr id="19" name="TextBox 18"/>
          <p:cNvSpPr txBox="1"/>
          <p:nvPr/>
        </p:nvSpPr>
        <p:spPr>
          <a:xfrm>
            <a:off x="6217920" y="2359152"/>
            <a:ext cx="219456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Stratified random split</a:t>
            </a:r>
          </a:p>
        </p:txBody>
      </p:sp>
      <p:sp>
        <p:nvSpPr>
          <p:cNvPr id="20" name="Rounded Rectangle 19"/>
          <p:cNvSpPr/>
          <p:nvPr/>
        </p:nvSpPr>
        <p:spPr>
          <a:xfrm>
            <a:off x="8732520" y="1600200"/>
            <a:ext cx="246888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0" y="1709928"/>
            <a:ext cx="219456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UNIQUE REVIEW TEXT</a:t>
            </a:r>
          </a:p>
        </p:txBody>
      </p:sp>
      <p:sp>
        <p:nvSpPr>
          <p:cNvPr id="22" name="TextBox 21"/>
          <p:cNvSpPr txBox="1"/>
          <p:nvPr/>
        </p:nvSpPr>
        <p:spPr>
          <a:xfrm>
            <a:off x="8869680" y="1947672"/>
            <a:ext cx="219456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11</a:t>
            </a:r>
          </a:p>
        </p:txBody>
      </p:sp>
      <p:sp>
        <p:nvSpPr>
          <p:cNvPr id="23" name="TextBox 22"/>
          <p:cNvSpPr txBox="1"/>
          <p:nvPr/>
        </p:nvSpPr>
        <p:spPr>
          <a:xfrm>
            <a:off x="8869680" y="2359152"/>
            <a:ext cx="219456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Across 1,147 reviews</a:t>
            </a:r>
          </a:p>
        </p:txBody>
      </p:sp>
      <p:pic>
        <p:nvPicPr>
          <p:cNvPr id="24" name="Picture 23" descr="sentiment_confusion_matrix.png"/>
          <p:cNvPicPr>
            <a:picLocks noChangeAspect="1"/>
          </p:cNvPicPr>
          <p:nvPr/>
        </p:nvPicPr>
        <p:blipFill>
          <a:blip r:embed="rId2"/>
          <a:stretch>
            <a:fillRect/>
          </a:stretch>
        </p:blipFill>
        <p:spPr>
          <a:xfrm>
            <a:off x="777240" y="2971800"/>
            <a:ext cx="3931920" cy="2834640"/>
          </a:xfrm>
          <a:prstGeom prst="rect">
            <a:avLst/>
          </a:prstGeom>
        </p:spPr>
      </p:pic>
      <p:sp>
        <p:nvSpPr>
          <p:cNvPr id="25" name="TextBox 24"/>
          <p:cNvSpPr txBox="1"/>
          <p:nvPr/>
        </p:nvSpPr>
        <p:spPr>
          <a:xfrm>
            <a:off x="5029200" y="3063240"/>
            <a:ext cx="6126480" cy="2468880"/>
          </a:xfrm>
          <a:prstGeom prst="rect">
            <a:avLst/>
          </a:prstGeom>
          <a:noFill/>
        </p:spPr>
        <p:txBody>
          <a:bodyPr wrap="square" lIns="36576" rIns="36576" tIns="36576" bIns="36576">
            <a:spAutoFit/>
          </a:bodyPr>
          <a:lstStyle/>
          <a:p>
            <a:pPr>
              <a:spcAft>
                <a:spcPts val="700"/>
              </a:spcAft>
              <a:defRPr sz="1500" b="1">
                <a:solidFill>
                  <a:srgbClr val="0D1B2E"/>
                </a:solidFill>
                <a:latin typeface="Aptos"/>
              </a:defRPr>
            </a:pPr>
            <a:r>
              <a:t>Interpretation</a:t>
            </a:r>
          </a:p>
          <a:p>
            <a:pPr>
              <a:spcAft>
                <a:spcPts val="700"/>
              </a:spcAft>
              <a:defRPr sz="1500" b="1">
                <a:solidFill>
                  <a:srgbClr val="0D1B2E"/>
                </a:solidFill>
                <a:latin typeface="Aptos"/>
              </a:defRPr>
            </a:pPr>
          </a:p>
          <a:p>
            <a:pPr>
              <a:spcAft>
                <a:spcPts val="700"/>
              </a:spcAft>
              <a:defRPr sz="1500" b="1">
                <a:solidFill>
                  <a:srgbClr val="0D1B2E"/>
                </a:solidFill>
                <a:latin typeface="Aptos"/>
              </a:defRPr>
            </a:pPr>
            <a:r>
              <a:t>The model exactly matched rating-derived labels on the saved test split. However, the dataset contains only 11 unique review-text templates repeated across 1,147 rows. A random split can place the same text templates in train and test, inflating performance.</a:t>
            </a:r>
          </a:p>
          <a:p>
            <a:pPr>
              <a:spcAft>
                <a:spcPts val="700"/>
              </a:spcAft>
              <a:defRPr sz="1500" b="1">
                <a:solidFill>
                  <a:srgbClr val="0D1B2E"/>
                </a:solidFill>
                <a:latin typeface="Aptos"/>
              </a:defRPr>
            </a:pPr>
          </a:p>
          <a:p>
            <a:pPr>
              <a:spcAft>
                <a:spcPts val="700"/>
              </a:spcAft>
              <a:defRPr sz="1500" b="1">
                <a:solidFill>
                  <a:srgbClr val="0D1B2E"/>
                </a:solidFill>
                <a:latin typeface="Aptos"/>
              </a:defRPr>
            </a:pPr>
            <a:r>
              <a:t>Conclusion: do not claim 100% real-world sentiment accuracy. Re-evaluate with more diverse, human-labelled reviews and a template/group-aware split.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28600"/>
          </a:xfrm>
          <a:prstGeom prst="rect">
            <a:avLst/>
          </a:prstGeom>
          <a:noFill/>
        </p:spPr>
        <p:txBody>
          <a:bodyPr wrap="square" lIns="36576" rIns="36576" tIns="36576" bIns="36576">
            <a:spAutoFit/>
          </a:bodyPr>
          <a:lstStyle/>
          <a:p>
            <a:pPr>
              <a:spcAft>
                <a:spcPts val="700"/>
              </a:spcAft>
              <a:defRPr sz="900" b="1">
                <a:solidFill>
                  <a:srgbClr val="19B0A0"/>
                </a:solidFill>
                <a:latin typeface="Aptos"/>
              </a:defRPr>
            </a:pPr>
            <a:r>
              <a:t>UBER EATS • CAPSTONE</a:t>
            </a:r>
          </a:p>
        </p:txBody>
      </p:sp>
      <p:sp>
        <p:nvSpPr>
          <p:cNvPr id="4" name="TextBox 3"/>
          <p:cNvSpPr txBox="1"/>
          <p:nvPr/>
        </p:nvSpPr>
        <p:spPr>
          <a:xfrm>
            <a:off x="502920" y="566928"/>
            <a:ext cx="11155680" cy="566928"/>
          </a:xfrm>
          <a:prstGeom prst="rect">
            <a:avLst/>
          </a:prstGeom>
          <a:noFill/>
        </p:spPr>
        <p:txBody>
          <a:bodyPr wrap="square" lIns="36576" rIns="36576" tIns="36576" bIns="36576">
            <a:spAutoFit/>
          </a:bodyPr>
          <a:lstStyle/>
          <a:p>
            <a:pPr>
              <a:spcAft>
                <a:spcPts val="700"/>
              </a:spcAft>
              <a:defRPr sz="2600" b="1">
                <a:solidFill>
                  <a:srgbClr val="0D1B2E"/>
                </a:solidFill>
                <a:latin typeface="Aptos"/>
              </a:defRPr>
            </a:pPr>
            <a:r>
              <a:t>Delivery-time prediction: Ridge performed best</a:t>
            </a:r>
          </a:p>
        </p:txBody>
      </p:sp>
      <p:sp>
        <p:nvSpPr>
          <p:cNvPr id="5" name="Rectangle 4"/>
          <p:cNvSpPr/>
          <p:nvPr/>
        </p:nvSpPr>
        <p:spPr>
          <a:xfrm>
            <a:off x="502920" y="1234440"/>
            <a:ext cx="11155680" cy="13716"/>
          </a:xfrm>
          <a:prstGeom prst="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64592"/>
          </a:xfrm>
          <a:prstGeom prst="rect">
            <a:avLst/>
          </a:prstGeom>
          <a:noFill/>
        </p:spPr>
        <p:txBody>
          <a:bodyPr wrap="square" lIns="36576" rIns="36576" tIns="36576" bIns="36576">
            <a:spAutoFit/>
          </a:bodyPr>
          <a:lstStyle/>
          <a:p>
            <a:pPr>
              <a:spcAft>
                <a:spcPts val="700"/>
              </a:spcAft>
              <a:defRPr sz="800" b="0">
                <a:solidFill>
                  <a:srgbClr val="AEBECF"/>
                </a:solidFill>
                <a:latin typeface="Aptos"/>
              </a:defRPr>
            </a:pPr>
            <a:r>
              <a:t>Synthetic demonstration data • Results from supplied project outputs</a:t>
            </a:r>
          </a:p>
        </p:txBody>
      </p:sp>
      <p:sp>
        <p:nvSpPr>
          <p:cNvPr id="7" name="TextBox 6"/>
          <p:cNvSpPr txBox="1"/>
          <p:nvPr/>
        </p:nvSpPr>
        <p:spPr>
          <a:xfrm>
            <a:off x="11064240" y="6473952"/>
            <a:ext cx="594360" cy="182880"/>
          </a:xfrm>
          <a:prstGeom prst="rect">
            <a:avLst/>
          </a:prstGeom>
          <a:noFill/>
        </p:spPr>
        <p:txBody>
          <a:bodyPr wrap="square" lIns="36576" rIns="36576" tIns="36576" bIns="36576">
            <a:spAutoFit/>
          </a:bodyPr>
          <a:lstStyle/>
          <a:p>
            <a:pPr algn="r">
              <a:spcAft>
                <a:spcPts val="700"/>
              </a:spcAft>
              <a:defRPr sz="900" b="1">
                <a:solidFill>
                  <a:srgbClr val="AEBECF"/>
                </a:solidFill>
                <a:latin typeface="Aptos"/>
              </a:defRPr>
            </a:pPr>
            <a:r>
              <a:t>10</a:t>
            </a:r>
          </a:p>
        </p:txBody>
      </p:sp>
      <p:pic>
        <p:nvPicPr>
          <p:cNvPr id="8" name="Picture 7" descr="regression_mae.png"/>
          <p:cNvPicPr>
            <a:picLocks noChangeAspect="1"/>
          </p:cNvPicPr>
          <p:nvPr/>
        </p:nvPicPr>
        <p:blipFill>
          <a:blip r:embed="rId2"/>
          <a:stretch>
            <a:fillRect/>
          </a:stretch>
        </p:blipFill>
        <p:spPr>
          <a:xfrm>
            <a:off x="594360" y="1508760"/>
            <a:ext cx="5623560" cy="3429000"/>
          </a:xfrm>
          <a:prstGeom prst="rect">
            <a:avLst/>
          </a:prstGeom>
        </p:spPr>
      </p:pic>
      <p:sp>
        <p:nvSpPr>
          <p:cNvPr id="9" name="Rounded Rectangle 8"/>
          <p:cNvSpPr/>
          <p:nvPr/>
        </p:nvSpPr>
        <p:spPr>
          <a:xfrm>
            <a:off x="6446520" y="1600200"/>
            <a:ext cx="224028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709928"/>
            <a:ext cx="196596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BEST MODEL</a:t>
            </a:r>
          </a:p>
        </p:txBody>
      </p:sp>
      <p:sp>
        <p:nvSpPr>
          <p:cNvPr id="11" name="TextBox 10"/>
          <p:cNvSpPr txBox="1"/>
          <p:nvPr/>
        </p:nvSpPr>
        <p:spPr>
          <a:xfrm>
            <a:off x="6583680" y="1947672"/>
            <a:ext cx="196596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Ridge</a:t>
            </a:r>
          </a:p>
        </p:txBody>
      </p:sp>
      <p:sp>
        <p:nvSpPr>
          <p:cNvPr id="12" name="TextBox 11"/>
          <p:cNvSpPr txBox="1"/>
          <p:nvPr/>
        </p:nvSpPr>
        <p:spPr>
          <a:xfrm>
            <a:off x="6583680" y="2359152"/>
            <a:ext cx="196596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Lowest test MAE</a:t>
            </a:r>
          </a:p>
        </p:txBody>
      </p:sp>
      <p:sp>
        <p:nvSpPr>
          <p:cNvPr id="13" name="Rounded Rectangle 12"/>
          <p:cNvSpPr/>
          <p:nvPr/>
        </p:nvSpPr>
        <p:spPr>
          <a:xfrm>
            <a:off x="8869680" y="1600200"/>
            <a:ext cx="224028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06840" y="1709928"/>
            <a:ext cx="196596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TEST MAE</a:t>
            </a:r>
          </a:p>
        </p:txBody>
      </p:sp>
      <p:sp>
        <p:nvSpPr>
          <p:cNvPr id="15" name="TextBox 14"/>
          <p:cNvSpPr txBox="1"/>
          <p:nvPr/>
        </p:nvSpPr>
        <p:spPr>
          <a:xfrm>
            <a:off x="9006840" y="1947672"/>
            <a:ext cx="196596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3.94 min</a:t>
            </a:r>
          </a:p>
        </p:txBody>
      </p:sp>
      <p:sp>
        <p:nvSpPr>
          <p:cNvPr id="16" name="TextBox 15"/>
          <p:cNvSpPr txBox="1"/>
          <p:nvPr/>
        </p:nvSpPr>
        <p:spPr>
          <a:xfrm>
            <a:off x="9006840" y="2359152"/>
            <a:ext cx="196596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vs 12.63 baseline</a:t>
            </a:r>
          </a:p>
        </p:txBody>
      </p:sp>
      <p:sp>
        <p:nvSpPr>
          <p:cNvPr id="17" name="Rounded Rectangle 16"/>
          <p:cNvSpPr/>
          <p:nvPr/>
        </p:nvSpPr>
        <p:spPr>
          <a:xfrm>
            <a:off x="6446520" y="2834640"/>
            <a:ext cx="224028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2944368"/>
            <a:ext cx="196596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TEST RMSE</a:t>
            </a:r>
          </a:p>
        </p:txBody>
      </p:sp>
      <p:sp>
        <p:nvSpPr>
          <p:cNvPr id="19" name="TextBox 18"/>
          <p:cNvSpPr txBox="1"/>
          <p:nvPr/>
        </p:nvSpPr>
        <p:spPr>
          <a:xfrm>
            <a:off x="6583680" y="3182112"/>
            <a:ext cx="196596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4.94 min</a:t>
            </a:r>
          </a:p>
        </p:txBody>
      </p:sp>
      <p:sp>
        <p:nvSpPr>
          <p:cNvPr id="20" name="TextBox 19"/>
          <p:cNvSpPr txBox="1"/>
          <p:nvPr/>
        </p:nvSpPr>
        <p:spPr>
          <a:xfrm>
            <a:off x="6583680" y="3593592"/>
            <a:ext cx="196596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Ridge</a:t>
            </a:r>
          </a:p>
        </p:txBody>
      </p:sp>
      <p:sp>
        <p:nvSpPr>
          <p:cNvPr id="21" name="Rounded Rectangle 20"/>
          <p:cNvSpPr/>
          <p:nvPr/>
        </p:nvSpPr>
        <p:spPr>
          <a:xfrm>
            <a:off x="8869680" y="2834640"/>
            <a:ext cx="224028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06840" y="2944368"/>
            <a:ext cx="196596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TEST R²</a:t>
            </a:r>
          </a:p>
        </p:txBody>
      </p:sp>
      <p:sp>
        <p:nvSpPr>
          <p:cNvPr id="23" name="TextBox 22"/>
          <p:cNvSpPr txBox="1"/>
          <p:nvPr/>
        </p:nvSpPr>
        <p:spPr>
          <a:xfrm>
            <a:off x="9006840" y="3182112"/>
            <a:ext cx="196596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0.906</a:t>
            </a:r>
          </a:p>
        </p:txBody>
      </p:sp>
      <p:sp>
        <p:nvSpPr>
          <p:cNvPr id="24" name="TextBox 23"/>
          <p:cNvSpPr txBox="1"/>
          <p:nvPr/>
        </p:nvSpPr>
        <p:spPr>
          <a:xfrm>
            <a:off x="9006840" y="3593592"/>
            <a:ext cx="196596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Ridge</a:t>
            </a:r>
          </a:p>
        </p:txBody>
      </p:sp>
      <p:sp>
        <p:nvSpPr>
          <p:cNvPr id="25" name="TextBox 24"/>
          <p:cNvSpPr txBox="1"/>
          <p:nvPr/>
        </p:nvSpPr>
        <p:spPr>
          <a:xfrm>
            <a:off x="6446520" y="4251960"/>
            <a:ext cx="4754880" cy="1005840"/>
          </a:xfrm>
          <a:prstGeom prst="rect">
            <a:avLst/>
          </a:prstGeom>
          <a:noFill/>
        </p:spPr>
        <p:txBody>
          <a:bodyPr wrap="square" lIns="36576" rIns="36576" tIns="36576" bIns="36576">
            <a:spAutoFit/>
          </a:bodyPr>
          <a:lstStyle/>
          <a:p>
            <a:pPr>
              <a:spcAft>
                <a:spcPts val="700"/>
              </a:spcAft>
              <a:defRPr sz="1300" b="0">
                <a:solidFill>
                  <a:srgbClr val="1D2B3A"/>
                </a:solidFill>
                <a:latin typeface="Aptos"/>
              </a:defRPr>
            </a:pPr>
            <a:r>
              <a:t>5-fold CV: Ridge MAE 3.97 ± 0.09 min; mean CV R² 0.899. Lasso is very close (MAE 3.96 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28600"/>
          </a:xfrm>
          <a:prstGeom prst="rect">
            <a:avLst/>
          </a:prstGeom>
          <a:noFill/>
        </p:spPr>
        <p:txBody>
          <a:bodyPr wrap="square" lIns="36576" rIns="36576" tIns="36576" bIns="36576">
            <a:spAutoFit/>
          </a:bodyPr>
          <a:lstStyle/>
          <a:p>
            <a:pPr>
              <a:spcAft>
                <a:spcPts val="700"/>
              </a:spcAft>
              <a:defRPr sz="900" b="1">
                <a:solidFill>
                  <a:srgbClr val="19B0A0"/>
                </a:solidFill>
                <a:latin typeface="Aptos"/>
              </a:defRPr>
            </a:pPr>
            <a:r>
              <a:t>UBER EATS • CAPSTONE</a:t>
            </a:r>
          </a:p>
        </p:txBody>
      </p:sp>
      <p:sp>
        <p:nvSpPr>
          <p:cNvPr id="4" name="TextBox 3"/>
          <p:cNvSpPr txBox="1"/>
          <p:nvPr/>
        </p:nvSpPr>
        <p:spPr>
          <a:xfrm>
            <a:off x="502920" y="566928"/>
            <a:ext cx="11155680" cy="566928"/>
          </a:xfrm>
          <a:prstGeom prst="rect">
            <a:avLst/>
          </a:prstGeom>
          <a:noFill/>
        </p:spPr>
        <p:txBody>
          <a:bodyPr wrap="square" lIns="36576" rIns="36576" tIns="36576" bIns="36576">
            <a:spAutoFit/>
          </a:bodyPr>
          <a:lstStyle/>
          <a:p>
            <a:pPr>
              <a:spcAft>
                <a:spcPts val="700"/>
              </a:spcAft>
              <a:defRPr sz="2600" b="1">
                <a:solidFill>
                  <a:srgbClr val="0D1B2E"/>
                </a:solidFill>
                <a:latin typeface="Aptos"/>
              </a:defRPr>
            </a:pPr>
            <a:r>
              <a:t>Delivery-time drivers: what the model learned</a:t>
            </a:r>
          </a:p>
        </p:txBody>
      </p:sp>
      <p:sp>
        <p:nvSpPr>
          <p:cNvPr id="5" name="Rectangle 4"/>
          <p:cNvSpPr/>
          <p:nvPr/>
        </p:nvSpPr>
        <p:spPr>
          <a:xfrm>
            <a:off x="502920" y="1234440"/>
            <a:ext cx="11155680" cy="13716"/>
          </a:xfrm>
          <a:prstGeom prst="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64592"/>
          </a:xfrm>
          <a:prstGeom prst="rect">
            <a:avLst/>
          </a:prstGeom>
          <a:noFill/>
        </p:spPr>
        <p:txBody>
          <a:bodyPr wrap="square" lIns="36576" rIns="36576" tIns="36576" bIns="36576">
            <a:spAutoFit/>
          </a:bodyPr>
          <a:lstStyle/>
          <a:p>
            <a:pPr>
              <a:spcAft>
                <a:spcPts val="700"/>
              </a:spcAft>
              <a:defRPr sz="800" b="0">
                <a:solidFill>
                  <a:srgbClr val="AEBECF"/>
                </a:solidFill>
                <a:latin typeface="Aptos"/>
              </a:defRPr>
            </a:pPr>
            <a:r>
              <a:t>Synthetic demonstration data • Results from supplied project outputs</a:t>
            </a:r>
          </a:p>
        </p:txBody>
      </p:sp>
      <p:sp>
        <p:nvSpPr>
          <p:cNvPr id="7" name="TextBox 6"/>
          <p:cNvSpPr txBox="1"/>
          <p:nvPr/>
        </p:nvSpPr>
        <p:spPr>
          <a:xfrm>
            <a:off x="11064240" y="6473952"/>
            <a:ext cx="594360" cy="182880"/>
          </a:xfrm>
          <a:prstGeom prst="rect">
            <a:avLst/>
          </a:prstGeom>
          <a:noFill/>
        </p:spPr>
        <p:txBody>
          <a:bodyPr wrap="square" lIns="36576" rIns="36576" tIns="36576" bIns="36576">
            <a:spAutoFit/>
          </a:bodyPr>
          <a:lstStyle/>
          <a:p>
            <a:pPr algn="r">
              <a:spcAft>
                <a:spcPts val="700"/>
              </a:spcAft>
              <a:defRPr sz="900" b="1">
                <a:solidFill>
                  <a:srgbClr val="AEBECF"/>
                </a:solidFill>
                <a:latin typeface="Aptos"/>
              </a:defRPr>
            </a:pPr>
            <a:r>
              <a:t>11</a:t>
            </a:r>
          </a:p>
        </p:txBody>
      </p:sp>
      <p:pic>
        <p:nvPicPr>
          <p:cNvPr id="8" name="Picture 7" descr="feature_importance.png"/>
          <p:cNvPicPr>
            <a:picLocks noChangeAspect="1"/>
          </p:cNvPicPr>
          <p:nvPr/>
        </p:nvPicPr>
        <p:blipFill>
          <a:blip r:embed="rId2"/>
          <a:stretch>
            <a:fillRect/>
          </a:stretch>
        </p:blipFill>
        <p:spPr>
          <a:xfrm>
            <a:off x="594360" y="1508760"/>
            <a:ext cx="6492240" cy="4206240"/>
          </a:xfrm>
          <a:prstGeom prst="rect">
            <a:avLst/>
          </a:prstGeom>
        </p:spPr>
      </p:pic>
      <p:sp>
        <p:nvSpPr>
          <p:cNvPr id="9" name="TextBox 8"/>
          <p:cNvSpPr txBox="1"/>
          <p:nvPr/>
        </p:nvSpPr>
        <p:spPr>
          <a:xfrm>
            <a:off x="7315200" y="1737360"/>
            <a:ext cx="4023360" cy="320040"/>
          </a:xfrm>
          <a:prstGeom prst="rect">
            <a:avLst/>
          </a:prstGeom>
          <a:noFill/>
        </p:spPr>
        <p:txBody>
          <a:bodyPr wrap="square" lIns="36576" rIns="36576" tIns="36576" bIns="36576">
            <a:spAutoFit/>
          </a:bodyPr>
          <a:lstStyle/>
          <a:p>
            <a:pPr>
              <a:spcAft>
                <a:spcPts val="700"/>
              </a:spcAft>
              <a:defRPr sz="1100" b="1">
                <a:solidFill>
                  <a:srgbClr val="19B0A0"/>
                </a:solidFill>
                <a:latin typeface="Aptos"/>
              </a:defRPr>
            </a:pPr>
            <a:r>
              <a:t>TOP RANDOM FOREST IMPORTANCE</a:t>
            </a:r>
          </a:p>
        </p:txBody>
      </p:sp>
      <p:sp>
        <p:nvSpPr>
          <p:cNvPr id="10" name="Rounded Rectangle 9"/>
          <p:cNvSpPr/>
          <p:nvPr/>
        </p:nvSpPr>
        <p:spPr>
          <a:xfrm>
            <a:off x="7315200" y="2331720"/>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25512" y="2240280"/>
            <a:ext cx="3703320" cy="621792"/>
          </a:xfrm>
          <a:prstGeom prst="rect">
            <a:avLst/>
          </a:prstGeom>
          <a:noFill/>
        </p:spPr>
        <p:txBody>
          <a:bodyPr wrap="square" lIns="36576" rIns="36576" tIns="36576" bIns="36576">
            <a:spAutoFit/>
          </a:bodyPr>
          <a:lstStyle/>
          <a:p>
            <a:pPr>
              <a:spcAft>
                <a:spcPts val="700"/>
              </a:spcAft>
              <a:defRPr sz="1500" b="0">
                <a:solidFill>
                  <a:srgbClr val="1D2B3A"/>
                </a:solidFill>
                <a:latin typeface="Aptos"/>
              </a:defRPr>
            </a:pPr>
            <a:r>
              <a:t>Delivery distance: 61.9%</a:t>
            </a:r>
          </a:p>
        </p:txBody>
      </p:sp>
      <p:sp>
        <p:nvSpPr>
          <p:cNvPr id="12" name="Rounded Rectangle 11"/>
          <p:cNvSpPr/>
          <p:nvPr/>
        </p:nvSpPr>
        <p:spPr>
          <a:xfrm>
            <a:off x="7315200" y="2990088"/>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25512" y="2898648"/>
            <a:ext cx="3703320" cy="621792"/>
          </a:xfrm>
          <a:prstGeom prst="rect">
            <a:avLst/>
          </a:prstGeom>
          <a:noFill/>
        </p:spPr>
        <p:txBody>
          <a:bodyPr wrap="square" lIns="36576" rIns="36576" tIns="36576" bIns="36576">
            <a:spAutoFit/>
          </a:bodyPr>
          <a:lstStyle/>
          <a:p>
            <a:pPr>
              <a:spcAft>
                <a:spcPts val="700"/>
              </a:spcAft>
              <a:defRPr sz="1500" b="0">
                <a:solidFill>
                  <a:srgbClr val="1D2B3A"/>
                </a:solidFill>
                <a:latin typeface="Aptos"/>
              </a:defRPr>
            </a:pPr>
            <a:r>
              <a:t>Preparation time: 12.8%</a:t>
            </a:r>
          </a:p>
        </p:txBody>
      </p:sp>
      <p:sp>
        <p:nvSpPr>
          <p:cNvPr id="14" name="Rounded Rectangle 13"/>
          <p:cNvSpPr/>
          <p:nvPr/>
        </p:nvSpPr>
        <p:spPr>
          <a:xfrm>
            <a:off x="7315200" y="3648456"/>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25512" y="3557016"/>
            <a:ext cx="3703320" cy="621792"/>
          </a:xfrm>
          <a:prstGeom prst="rect">
            <a:avLst/>
          </a:prstGeom>
          <a:noFill/>
        </p:spPr>
        <p:txBody>
          <a:bodyPr wrap="square" lIns="36576" rIns="36576" tIns="36576" bIns="36576">
            <a:spAutoFit/>
          </a:bodyPr>
          <a:lstStyle/>
          <a:p>
            <a:pPr>
              <a:spcAft>
                <a:spcPts val="700"/>
              </a:spcAft>
              <a:defRPr sz="1500" b="0">
                <a:solidFill>
                  <a:srgbClr val="1D2B3A"/>
                </a:solidFill>
                <a:latin typeface="Aptos"/>
              </a:defRPr>
            </a:pPr>
            <a:r>
              <a:t>Restaurant average prep time: 11.5%</a:t>
            </a:r>
          </a:p>
        </p:txBody>
      </p:sp>
      <p:sp>
        <p:nvSpPr>
          <p:cNvPr id="16" name="Rounded Rectangle 15"/>
          <p:cNvSpPr/>
          <p:nvPr/>
        </p:nvSpPr>
        <p:spPr>
          <a:xfrm>
            <a:off x="7315200" y="4306824"/>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25512" y="4215384"/>
            <a:ext cx="3703320" cy="621792"/>
          </a:xfrm>
          <a:prstGeom prst="rect">
            <a:avLst/>
          </a:prstGeom>
          <a:noFill/>
        </p:spPr>
        <p:txBody>
          <a:bodyPr wrap="square" lIns="36576" rIns="36576" tIns="36576" bIns="36576">
            <a:spAutoFit/>
          </a:bodyPr>
          <a:lstStyle/>
          <a:p>
            <a:pPr>
              <a:spcAft>
                <a:spcPts val="700"/>
              </a:spcAft>
              <a:defRPr sz="1500" b="0">
                <a:solidFill>
                  <a:srgbClr val="1D2B3A"/>
                </a:solidFill>
                <a:latin typeface="Aptos"/>
              </a:defRPr>
            </a:pPr>
            <a:r>
              <a:t>High traffic: 2.6%</a:t>
            </a:r>
          </a:p>
        </p:txBody>
      </p:sp>
      <p:sp>
        <p:nvSpPr>
          <p:cNvPr id="18" name="Rounded Rectangle 17"/>
          <p:cNvSpPr/>
          <p:nvPr/>
        </p:nvSpPr>
        <p:spPr>
          <a:xfrm>
            <a:off x="7315200" y="4965192"/>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25512" y="4873752"/>
            <a:ext cx="3703320" cy="621792"/>
          </a:xfrm>
          <a:prstGeom prst="rect">
            <a:avLst/>
          </a:prstGeom>
          <a:noFill/>
        </p:spPr>
        <p:txBody>
          <a:bodyPr wrap="square" lIns="36576" rIns="36576" tIns="36576" bIns="36576">
            <a:spAutoFit/>
          </a:bodyPr>
          <a:lstStyle/>
          <a:p>
            <a:pPr>
              <a:spcAft>
                <a:spcPts val="700"/>
              </a:spcAft>
              <a:defRPr sz="1500" b="0">
                <a:solidFill>
                  <a:srgbClr val="1D2B3A"/>
                </a:solidFill>
                <a:latin typeface="Aptos"/>
              </a:defRPr>
            </a:pPr>
            <a:r>
              <a:t>Rain: 2.5%</a:t>
            </a:r>
          </a:p>
        </p:txBody>
      </p:sp>
      <p:sp>
        <p:nvSpPr>
          <p:cNvPr id="20" name="TextBox 19"/>
          <p:cNvSpPr txBox="1"/>
          <p:nvPr/>
        </p:nvSpPr>
        <p:spPr>
          <a:xfrm>
            <a:off x="7315200" y="5623560"/>
            <a:ext cx="3931920" cy="411480"/>
          </a:xfrm>
          <a:prstGeom prst="rect">
            <a:avLst/>
          </a:prstGeom>
          <a:noFill/>
        </p:spPr>
        <p:txBody>
          <a:bodyPr wrap="square" lIns="36576" rIns="36576" tIns="36576" bIns="36576">
            <a:spAutoFit/>
          </a:bodyPr>
          <a:lstStyle/>
          <a:p>
            <a:pPr>
              <a:spcAft>
                <a:spcPts val="700"/>
              </a:spcAft>
              <a:defRPr sz="1000" b="0">
                <a:solidFill>
                  <a:srgbClr val="AEBECF"/>
                </a:solidFill>
                <a:latin typeface="Aptos"/>
              </a:defRPr>
            </a:pPr>
            <a:r>
              <a:t>Importance is model-specific, not proof of causation.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28600"/>
          </a:xfrm>
          <a:prstGeom prst="rect">
            <a:avLst/>
          </a:prstGeom>
          <a:noFill/>
        </p:spPr>
        <p:txBody>
          <a:bodyPr wrap="square" lIns="36576" rIns="36576" tIns="36576" bIns="36576">
            <a:spAutoFit/>
          </a:bodyPr>
          <a:lstStyle/>
          <a:p>
            <a:pPr>
              <a:spcAft>
                <a:spcPts val="700"/>
              </a:spcAft>
              <a:defRPr sz="900" b="1">
                <a:solidFill>
                  <a:srgbClr val="19B0A0"/>
                </a:solidFill>
                <a:latin typeface="Aptos"/>
              </a:defRPr>
            </a:pPr>
            <a:r>
              <a:t>UBER EATS • CAPSTONE</a:t>
            </a:r>
          </a:p>
        </p:txBody>
      </p:sp>
      <p:sp>
        <p:nvSpPr>
          <p:cNvPr id="4" name="TextBox 3"/>
          <p:cNvSpPr txBox="1"/>
          <p:nvPr/>
        </p:nvSpPr>
        <p:spPr>
          <a:xfrm>
            <a:off x="502920" y="566928"/>
            <a:ext cx="11155680" cy="566928"/>
          </a:xfrm>
          <a:prstGeom prst="rect">
            <a:avLst/>
          </a:prstGeom>
          <a:noFill/>
        </p:spPr>
        <p:txBody>
          <a:bodyPr wrap="square" lIns="36576" rIns="36576" tIns="36576" bIns="36576">
            <a:spAutoFit/>
          </a:bodyPr>
          <a:lstStyle/>
          <a:p>
            <a:pPr>
              <a:spcAft>
                <a:spcPts val="700"/>
              </a:spcAft>
              <a:defRPr sz="2600" b="1">
                <a:solidFill>
                  <a:srgbClr val="0D1B2E"/>
                </a:solidFill>
                <a:latin typeface="Aptos"/>
              </a:defRPr>
            </a:pPr>
            <a:r>
              <a:t>Hourly demand forecasting: model comparison</a:t>
            </a:r>
          </a:p>
        </p:txBody>
      </p:sp>
      <p:sp>
        <p:nvSpPr>
          <p:cNvPr id="5" name="Rectangle 4"/>
          <p:cNvSpPr/>
          <p:nvPr/>
        </p:nvSpPr>
        <p:spPr>
          <a:xfrm>
            <a:off x="502920" y="1234440"/>
            <a:ext cx="11155680" cy="13716"/>
          </a:xfrm>
          <a:prstGeom prst="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64592"/>
          </a:xfrm>
          <a:prstGeom prst="rect">
            <a:avLst/>
          </a:prstGeom>
          <a:noFill/>
        </p:spPr>
        <p:txBody>
          <a:bodyPr wrap="square" lIns="36576" rIns="36576" tIns="36576" bIns="36576">
            <a:spAutoFit/>
          </a:bodyPr>
          <a:lstStyle/>
          <a:p>
            <a:pPr>
              <a:spcAft>
                <a:spcPts val="700"/>
              </a:spcAft>
              <a:defRPr sz="800" b="0">
                <a:solidFill>
                  <a:srgbClr val="AEBECF"/>
                </a:solidFill>
                <a:latin typeface="Aptos"/>
              </a:defRPr>
            </a:pPr>
            <a:r>
              <a:t>Synthetic demonstration data • Results from supplied project outputs</a:t>
            </a:r>
          </a:p>
        </p:txBody>
      </p:sp>
      <p:sp>
        <p:nvSpPr>
          <p:cNvPr id="7" name="TextBox 6"/>
          <p:cNvSpPr txBox="1"/>
          <p:nvPr/>
        </p:nvSpPr>
        <p:spPr>
          <a:xfrm>
            <a:off x="11064240" y="6473952"/>
            <a:ext cx="594360" cy="182880"/>
          </a:xfrm>
          <a:prstGeom prst="rect">
            <a:avLst/>
          </a:prstGeom>
          <a:noFill/>
        </p:spPr>
        <p:txBody>
          <a:bodyPr wrap="square" lIns="36576" rIns="36576" tIns="36576" bIns="36576">
            <a:spAutoFit/>
          </a:bodyPr>
          <a:lstStyle/>
          <a:p>
            <a:pPr algn="r">
              <a:spcAft>
                <a:spcPts val="700"/>
              </a:spcAft>
              <a:defRPr sz="900" b="1">
                <a:solidFill>
                  <a:srgbClr val="AEBECF"/>
                </a:solidFill>
                <a:latin typeface="Aptos"/>
              </a:defRPr>
            </a:pPr>
            <a:r>
              <a:t>12</a:t>
            </a:r>
          </a:p>
        </p:txBody>
      </p:sp>
      <p:pic>
        <p:nvPicPr>
          <p:cNvPr id="8" name="Picture 7" descr="forecast_mape.png"/>
          <p:cNvPicPr>
            <a:picLocks noChangeAspect="1"/>
          </p:cNvPicPr>
          <p:nvPr/>
        </p:nvPicPr>
        <p:blipFill>
          <a:blip r:embed="rId2"/>
          <a:stretch>
            <a:fillRect/>
          </a:stretch>
        </p:blipFill>
        <p:spPr>
          <a:xfrm>
            <a:off x="640080" y="1554480"/>
            <a:ext cx="5486400" cy="3337560"/>
          </a:xfrm>
          <a:prstGeom prst="rect">
            <a:avLst/>
          </a:prstGeom>
        </p:spPr>
      </p:pic>
      <p:sp>
        <p:nvSpPr>
          <p:cNvPr id="9" name="Rounded Rectangle 8"/>
          <p:cNvSpPr/>
          <p:nvPr/>
        </p:nvSpPr>
        <p:spPr>
          <a:xfrm>
            <a:off x="6446520" y="1645920"/>
            <a:ext cx="214884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1755648"/>
            <a:ext cx="187452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ARIMA MAE</a:t>
            </a:r>
          </a:p>
        </p:txBody>
      </p:sp>
      <p:sp>
        <p:nvSpPr>
          <p:cNvPr id="11" name="TextBox 10"/>
          <p:cNvSpPr txBox="1"/>
          <p:nvPr/>
        </p:nvSpPr>
        <p:spPr>
          <a:xfrm>
            <a:off x="6583680" y="1993392"/>
            <a:ext cx="187452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0.75</a:t>
            </a:r>
          </a:p>
        </p:txBody>
      </p:sp>
      <p:sp>
        <p:nvSpPr>
          <p:cNvPr id="12" name="TextBox 11"/>
          <p:cNvSpPr txBox="1"/>
          <p:nvPr/>
        </p:nvSpPr>
        <p:spPr>
          <a:xfrm>
            <a:off x="6583680" y="2404872"/>
            <a:ext cx="187452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RMSE 0.91</a:t>
            </a:r>
          </a:p>
        </p:txBody>
      </p:sp>
      <p:sp>
        <p:nvSpPr>
          <p:cNvPr id="13" name="Rounded Rectangle 12"/>
          <p:cNvSpPr/>
          <p:nvPr/>
        </p:nvSpPr>
        <p:spPr>
          <a:xfrm>
            <a:off x="8778240" y="1645920"/>
            <a:ext cx="214884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1755648"/>
            <a:ext cx="187452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PROPHET MAE</a:t>
            </a:r>
          </a:p>
        </p:txBody>
      </p:sp>
      <p:sp>
        <p:nvSpPr>
          <p:cNvPr id="15" name="TextBox 14"/>
          <p:cNvSpPr txBox="1"/>
          <p:nvPr/>
        </p:nvSpPr>
        <p:spPr>
          <a:xfrm>
            <a:off x="8915400" y="1993392"/>
            <a:ext cx="187452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0.75</a:t>
            </a:r>
          </a:p>
        </p:txBody>
      </p:sp>
      <p:sp>
        <p:nvSpPr>
          <p:cNvPr id="16" name="TextBox 15"/>
          <p:cNvSpPr txBox="1"/>
          <p:nvPr/>
        </p:nvSpPr>
        <p:spPr>
          <a:xfrm>
            <a:off x="8915400" y="2404872"/>
            <a:ext cx="187452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RMSE 0.92</a:t>
            </a:r>
          </a:p>
        </p:txBody>
      </p:sp>
      <p:sp>
        <p:nvSpPr>
          <p:cNvPr id="17" name="Rounded Rectangle 16"/>
          <p:cNvSpPr/>
          <p:nvPr/>
        </p:nvSpPr>
        <p:spPr>
          <a:xfrm>
            <a:off x="6446520" y="2880360"/>
            <a:ext cx="214884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0" y="2990088"/>
            <a:ext cx="187452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ARIMA MAPE</a:t>
            </a:r>
          </a:p>
        </p:txBody>
      </p:sp>
      <p:sp>
        <p:nvSpPr>
          <p:cNvPr id="19" name="TextBox 18"/>
          <p:cNvSpPr txBox="1"/>
          <p:nvPr/>
        </p:nvSpPr>
        <p:spPr>
          <a:xfrm>
            <a:off x="6583680" y="3227832"/>
            <a:ext cx="187452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32.93%</a:t>
            </a:r>
          </a:p>
        </p:txBody>
      </p:sp>
      <p:sp>
        <p:nvSpPr>
          <p:cNvPr id="20" name="TextBox 19"/>
          <p:cNvSpPr txBox="1"/>
          <p:nvPr/>
        </p:nvSpPr>
        <p:spPr>
          <a:xfrm>
            <a:off x="6583680" y="3639312"/>
            <a:ext cx="187452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Slightly lower</a:t>
            </a:r>
          </a:p>
        </p:txBody>
      </p:sp>
      <p:sp>
        <p:nvSpPr>
          <p:cNvPr id="21" name="Rounded Rectangle 20"/>
          <p:cNvSpPr/>
          <p:nvPr/>
        </p:nvSpPr>
        <p:spPr>
          <a:xfrm>
            <a:off x="8778240" y="2880360"/>
            <a:ext cx="2148840" cy="1024128"/>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5400" y="2990088"/>
            <a:ext cx="1874520" cy="201168"/>
          </a:xfrm>
          <a:prstGeom prst="rect">
            <a:avLst/>
          </a:prstGeom>
          <a:noFill/>
        </p:spPr>
        <p:txBody>
          <a:bodyPr wrap="square" lIns="36576" rIns="36576" tIns="36576" bIns="36576">
            <a:spAutoFit/>
          </a:bodyPr>
          <a:lstStyle/>
          <a:p>
            <a:pPr>
              <a:spcAft>
                <a:spcPts val="700"/>
              </a:spcAft>
              <a:defRPr sz="900" b="1">
                <a:solidFill>
                  <a:srgbClr val="AEBECF"/>
                </a:solidFill>
                <a:latin typeface="Aptos"/>
              </a:defRPr>
            </a:pPr>
            <a:r>
              <a:t>PROPHET MAPE</a:t>
            </a:r>
          </a:p>
        </p:txBody>
      </p:sp>
      <p:sp>
        <p:nvSpPr>
          <p:cNvPr id="23" name="TextBox 22"/>
          <p:cNvSpPr txBox="1"/>
          <p:nvPr/>
        </p:nvSpPr>
        <p:spPr>
          <a:xfrm>
            <a:off x="8915400" y="3227832"/>
            <a:ext cx="1874520" cy="384048"/>
          </a:xfrm>
          <a:prstGeom prst="rect">
            <a:avLst/>
          </a:prstGeom>
          <a:noFill/>
        </p:spPr>
        <p:txBody>
          <a:bodyPr wrap="square" lIns="36576" rIns="36576" tIns="36576" bIns="36576">
            <a:spAutoFit/>
          </a:bodyPr>
          <a:lstStyle/>
          <a:p>
            <a:pPr>
              <a:spcAft>
                <a:spcPts val="700"/>
              </a:spcAft>
              <a:defRPr sz="2500" b="1">
                <a:solidFill>
                  <a:srgbClr val="0D1B2E"/>
                </a:solidFill>
                <a:latin typeface="Aptos"/>
              </a:defRPr>
            </a:pPr>
            <a:r>
              <a:t>37.34%</a:t>
            </a:r>
          </a:p>
        </p:txBody>
      </p:sp>
      <p:sp>
        <p:nvSpPr>
          <p:cNvPr id="24" name="TextBox 23"/>
          <p:cNvSpPr txBox="1"/>
          <p:nvPr/>
        </p:nvSpPr>
        <p:spPr>
          <a:xfrm>
            <a:off x="8915400" y="3639312"/>
            <a:ext cx="1874520" cy="182880"/>
          </a:xfrm>
          <a:prstGeom prst="rect">
            <a:avLst/>
          </a:prstGeom>
          <a:noFill/>
        </p:spPr>
        <p:txBody>
          <a:bodyPr wrap="square" lIns="36576" rIns="36576" tIns="36576" bIns="36576">
            <a:spAutoFit/>
          </a:bodyPr>
          <a:lstStyle/>
          <a:p>
            <a:pPr>
              <a:spcAft>
                <a:spcPts val="700"/>
              </a:spcAft>
              <a:defRPr sz="800" b="0">
                <a:solidFill>
                  <a:srgbClr val="1D2B3A"/>
                </a:solidFill>
                <a:latin typeface="Aptos"/>
              </a:defRPr>
            </a:pPr>
            <a:r>
              <a:t>Higher error</a:t>
            </a:r>
          </a:p>
        </p:txBody>
      </p:sp>
      <p:sp>
        <p:nvSpPr>
          <p:cNvPr id="25" name="TextBox 24"/>
          <p:cNvSpPr txBox="1"/>
          <p:nvPr/>
        </p:nvSpPr>
        <p:spPr>
          <a:xfrm>
            <a:off x="822960" y="5166360"/>
            <a:ext cx="10424160" cy="731520"/>
          </a:xfrm>
          <a:prstGeom prst="rect">
            <a:avLst/>
          </a:prstGeom>
          <a:noFill/>
        </p:spPr>
        <p:txBody>
          <a:bodyPr wrap="square" lIns="36576" rIns="36576" tIns="36576" bIns="36576">
            <a:spAutoFit/>
          </a:bodyPr>
          <a:lstStyle/>
          <a:p>
            <a:pPr>
              <a:spcAft>
                <a:spcPts val="700"/>
              </a:spcAft>
              <a:defRPr sz="1300" b="1">
                <a:solidFill>
                  <a:srgbClr val="0D1B2E"/>
                </a:solidFill>
                <a:latin typeface="Aptos"/>
              </a:defRPr>
            </a:pPr>
            <a:r>
              <a:t>Next 24-hour forecast is nearly flat at approximately 0.78–0.79 orders per hour. Despite ARIMA's marginal edge, the high MAPE and flat forecast mean this result is not yet strong enough for operational staffing decisions.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28600"/>
          </a:xfrm>
          <a:prstGeom prst="rect">
            <a:avLst/>
          </a:prstGeom>
          <a:noFill/>
        </p:spPr>
        <p:txBody>
          <a:bodyPr wrap="square" lIns="36576" rIns="36576" tIns="36576" bIns="36576">
            <a:spAutoFit/>
          </a:bodyPr>
          <a:lstStyle/>
          <a:p>
            <a:pPr>
              <a:spcAft>
                <a:spcPts val="700"/>
              </a:spcAft>
              <a:defRPr sz="900" b="1">
                <a:solidFill>
                  <a:srgbClr val="19B0A0"/>
                </a:solidFill>
                <a:latin typeface="Aptos"/>
              </a:defRPr>
            </a:pPr>
            <a:r>
              <a:t>UBER EATS • CAPSTONE</a:t>
            </a:r>
          </a:p>
        </p:txBody>
      </p:sp>
      <p:sp>
        <p:nvSpPr>
          <p:cNvPr id="4" name="TextBox 3"/>
          <p:cNvSpPr txBox="1"/>
          <p:nvPr/>
        </p:nvSpPr>
        <p:spPr>
          <a:xfrm>
            <a:off x="502920" y="566928"/>
            <a:ext cx="11155680" cy="566928"/>
          </a:xfrm>
          <a:prstGeom prst="rect">
            <a:avLst/>
          </a:prstGeom>
          <a:noFill/>
        </p:spPr>
        <p:txBody>
          <a:bodyPr wrap="square" lIns="36576" rIns="36576" tIns="36576" bIns="36576">
            <a:spAutoFit/>
          </a:bodyPr>
          <a:lstStyle/>
          <a:p>
            <a:pPr>
              <a:spcAft>
                <a:spcPts val="700"/>
              </a:spcAft>
              <a:defRPr sz="2600" b="1">
                <a:solidFill>
                  <a:srgbClr val="0D1B2E"/>
                </a:solidFill>
                <a:latin typeface="Aptos"/>
              </a:defRPr>
            </a:pPr>
            <a:r>
              <a:t>Business implications: convert analysis into action</a:t>
            </a:r>
          </a:p>
        </p:txBody>
      </p:sp>
      <p:sp>
        <p:nvSpPr>
          <p:cNvPr id="5" name="Rectangle 4"/>
          <p:cNvSpPr/>
          <p:nvPr/>
        </p:nvSpPr>
        <p:spPr>
          <a:xfrm>
            <a:off x="502920" y="1234440"/>
            <a:ext cx="11155680" cy="13716"/>
          </a:xfrm>
          <a:prstGeom prst="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64592"/>
          </a:xfrm>
          <a:prstGeom prst="rect">
            <a:avLst/>
          </a:prstGeom>
          <a:noFill/>
        </p:spPr>
        <p:txBody>
          <a:bodyPr wrap="square" lIns="36576" rIns="36576" tIns="36576" bIns="36576">
            <a:spAutoFit/>
          </a:bodyPr>
          <a:lstStyle/>
          <a:p>
            <a:pPr>
              <a:spcAft>
                <a:spcPts val="700"/>
              </a:spcAft>
              <a:defRPr sz="800" b="0">
                <a:solidFill>
                  <a:srgbClr val="AEBECF"/>
                </a:solidFill>
                <a:latin typeface="Aptos"/>
              </a:defRPr>
            </a:pPr>
            <a:r>
              <a:t>Synthetic demonstration data • Results from supplied project outputs</a:t>
            </a:r>
          </a:p>
        </p:txBody>
      </p:sp>
      <p:sp>
        <p:nvSpPr>
          <p:cNvPr id="7" name="TextBox 6"/>
          <p:cNvSpPr txBox="1"/>
          <p:nvPr/>
        </p:nvSpPr>
        <p:spPr>
          <a:xfrm>
            <a:off x="11064240" y="6473952"/>
            <a:ext cx="594360" cy="182880"/>
          </a:xfrm>
          <a:prstGeom prst="rect">
            <a:avLst/>
          </a:prstGeom>
          <a:noFill/>
        </p:spPr>
        <p:txBody>
          <a:bodyPr wrap="square" lIns="36576" rIns="36576" tIns="36576" bIns="36576">
            <a:spAutoFit/>
          </a:bodyPr>
          <a:lstStyle/>
          <a:p>
            <a:pPr algn="r">
              <a:spcAft>
                <a:spcPts val="700"/>
              </a:spcAft>
              <a:defRPr sz="900" b="1">
                <a:solidFill>
                  <a:srgbClr val="AEBECF"/>
                </a:solidFill>
                <a:latin typeface="Aptos"/>
              </a:defRPr>
            </a:pPr>
            <a:r>
              <a:t>13</a:t>
            </a:r>
          </a:p>
        </p:txBody>
      </p:sp>
      <p:sp>
        <p:nvSpPr>
          <p:cNvPr id="8" name="Rounded Rectangle 7"/>
          <p:cNvSpPr/>
          <p:nvPr/>
        </p:nvSpPr>
        <p:spPr>
          <a:xfrm>
            <a:off x="731520" y="1508760"/>
            <a:ext cx="2057400" cy="621792"/>
          </a:xfrm>
          <a:prstGeom prst="roundRect">
            <a:avLst/>
          </a:prstGeom>
          <a:solidFill>
            <a:srgbClr val="15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673351"/>
            <a:ext cx="1783080" cy="228600"/>
          </a:xfrm>
          <a:prstGeom prst="rect">
            <a:avLst/>
          </a:prstGeom>
          <a:noFill/>
        </p:spPr>
        <p:txBody>
          <a:bodyPr wrap="square" lIns="36576" rIns="36576" tIns="36576" bIns="36576">
            <a:spAutoFit/>
          </a:bodyPr>
          <a:lstStyle/>
          <a:p>
            <a:pPr>
              <a:spcAft>
                <a:spcPts val="700"/>
              </a:spcAft>
              <a:defRPr sz="1100" b="1">
                <a:solidFill>
                  <a:srgbClr val="F8FAFC"/>
                </a:solidFill>
                <a:latin typeface="Aptos"/>
              </a:defRPr>
            </a:pPr>
            <a:r>
              <a:t>CUSTOMERS</a:t>
            </a:r>
          </a:p>
        </p:txBody>
      </p:sp>
      <p:sp>
        <p:nvSpPr>
          <p:cNvPr id="10" name="Rounded Rectangle 9"/>
          <p:cNvSpPr/>
          <p:nvPr/>
        </p:nvSpPr>
        <p:spPr>
          <a:xfrm>
            <a:off x="2971800" y="1508760"/>
            <a:ext cx="8458200" cy="621792"/>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54680" y="1618488"/>
            <a:ext cx="8092440" cy="411480"/>
          </a:xfrm>
          <a:prstGeom prst="rect">
            <a:avLst/>
          </a:prstGeom>
          <a:noFill/>
        </p:spPr>
        <p:txBody>
          <a:bodyPr wrap="square" lIns="36576" rIns="36576" tIns="36576" bIns="36576">
            <a:spAutoFit/>
          </a:bodyPr>
          <a:lstStyle/>
          <a:p>
            <a:pPr>
              <a:spcAft>
                <a:spcPts val="700"/>
              </a:spcAft>
              <a:defRPr sz="1200" b="0">
                <a:solidFill>
                  <a:srgbClr val="1D2B3A"/>
                </a:solidFill>
                <a:latin typeface="Aptos"/>
              </a:defRPr>
            </a:pPr>
            <a:r>
              <a:t>Test targeted loyalty and retention offers for the larger customer groups; validate the small third cluster before targeting.</a:t>
            </a:r>
          </a:p>
        </p:txBody>
      </p:sp>
      <p:sp>
        <p:nvSpPr>
          <p:cNvPr id="12" name="Rounded Rectangle 11"/>
          <p:cNvSpPr/>
          <p:nvPr/>
        </p:nvSpPr>
        <p:spPr>
          <a:xfrm>
            <a:off x="731520" y="2404872"/>
            <a:ext cx="2057400" cy="621792"/>
          </a:xfrm>
          <a:prstGeom prst="roundRect">
            <a:avLst/>
          </a:prstGeom>
          <a:solidFill>
            <a:srgbClr val="15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569464"/>
            <a:ext cx="1783080" cy="228600"/>
          </a:xfrm>
          <a:prstGeom prst="rect">
            <a:avLst/>
          </a:prstGeom>
          <a:noFill/>
        </p:spPr>
        <p:txBody>
          <a:bodyPr wrap="square" lIns="36576" rIns="36576" tIns="36576" bIns="36576">
            <a:spAutoFit/>
          </a:bodyPr>
          <a:lstStyle/>
          <a:p>
            <a:pPr>
              <a:spcAft>
                <a:spcPts val="700"/>
              </a:spcAft>
              <a:defRPr sz="1100" b="1">
                <a:solidFill>
                  <a:srgbClr val="F8FAFC"/>
                </a:solidFill>
                <a:latin typeface="Aptos"/>
              </a:defRPr>
            </a:pPr>
            <a:r>
              <a:t>RESTAURANTS</a:t>
            </a:r>
          </a:p>
        </p:txBody>
      </p:sp>
      <p:sp>
        <p:nvSpPr>
          <p:cNvPr id="14" name="Rounded Rectangle 13"/>
          <p:cNvSpPr/>
          <p:nvPr/>
        </p:nvSpPr>
        <p:spPr>
          <a:xfrm>
            <a:off x="2971800" y="2404872"/>
            <a:ext cx="8458200" cy="621792"/>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54680" y="2514600"/>
            <a:ext cx="8092440" cy="411480"/>
          </a:xfrm>
          <a:prstGeom prst="rect">
            <a:avLst/>
          </a:prstGeom>
          <a:noFill/>
        </p:spPr>
        <p:txBody>
          <a:bodyPr wrap="square" lIns="36576" rIns="36576" tIns="36576" bIns="36576">
            <a:spAutoFit/>
          </a:bodyPr>
          <a:lstStyle/>
          <a:p>
            <a:pPr>
              <a:spcAft>
                <a:spcPts val="700"/>
              </a:spcAft>
              <a:defRPr sz="1200" b="0">
                <a:solidFill>
                  <a:srgbClr val="1D2B3A"/>
                </a:solidFill>
                <a:latin typeface="Aptos"/>
              </a:defRPr>
            </a:pPr>
            <a:r>
              <a:t>Review prep-time and rating patterns with restaurant-level records; prioritize investigation, not automatic penalties.</a:t>
            </a:r>
          </a:p>
        </p:txBody>
      </p:sp>
      <p:sp>
        <p:nvSpPr>
          <p:cNvPr id="16" name="Rounded Rectangle 15"/>
          <p:cNvSpPr/>
          <p:nvPr/>
        </p:nvSpPr>
        <p:spPr>
          <a:xfrm>
            <a:off x="731520" y="3300984"/>
            <a:ext cx="2057400" cy="621792"/>
          </a:xfrm>
          <a:prstGeom prst="roundRect">
            <a:avLst/>
          </a:prstGeom>
          <a:solidFill>
            <a:srgbClr val="15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465576"/>
            <a:ext cx="1783080" cy="228600"/>
          </a:xfrm>
          <a:prstGeom prst="rect">
            <a:avLst/>
          </a:prstGeom>
          <a:noFill/>
        </p:spPr>
        <p:txBody>
          <a:bodyPr wrap="square" lIns="36576" rIns="36576" tIns="36576" bIns="36576">
            <a:spAutoFit/>
          </a:bodyPr>
          <a:lstStyle/>
          <a:p>
            <a:pPr>
              <a:spcAft>
                <a:spcPts val="700"/>
              </a:spcAft>
              <a:defRPr sz="1100" b="1">
                <a:solidFill>
                  <a:srgbClr val="F8FAFC"/>
                </a:solidFill>
                <a:latin typeface="Aptos"/>
              </a:defRPr>
            </a:pPr>
            <a:r>
              <a:t>CUSTOMER EXPERIENCE</a:t>
            </a:r>
          </a:p>
        </p:txBody>
      </p:sp>
      <p:sp>
        <p:nvSpPr>
          <p:cNvPr id="18" name="Rounded Rectangle 17"/>
          <p:cNvSpPr/>
          <p:nvPr/>
        </p:nvSpPr>
        <p:spPr>
          <a:xfrm>
            <a:off x="2971800" y="3300984"/>
            <a:ext cx="8458200" cy="621792"/>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54680" y="3410712"/>
            <a:ext cx="8092440" cy="411480"/>
          </a:xfrm>
          <a:prstGeom prst="rect">
            <a:avLst/>
          </a:prstGeom>
          <a:noFill/>
        </p:spPr>
        <p:txBody>
          <a:bodyPr wrap="square" lIns="36576" rIns="36576" tIns="36576" bIns="36576">
            <a:spAutoFit/>
          </a:bodyPr>
          <a:lstStyle/>
          <a:p>
            <a:pPr>
              <a:spcAft>
                <a:spcPts val="700"/>
              </a:spcAft>
              <a:defRPr sz="1200" b="0">
                <a:solidFill>
                  <a:srgbClr val="1D2B3A"/>
                </a:solidFill>
                <a:latin typeface="Aptos"/>
              </a:defRPr>
            </a:pPr>
            <a:r>
              <a:t>Audit recurring negative themes—packaging, damaged items, slow delivery and support—against original review examples.</a:t>
            </a:r>
          </a:p>
        </p:txBody>
      </p:sp>
      <p:sp>
        <p:nvSpPr>
          <p:cNvPr id="20" name="Rounded Rectangle 19"/>
          <p:cNvSpPr/>
          <p:nvPr/>
        </p:nvSpPr>
        <p:spPr>
          <a:xfrm>
            <a:off x="731520" y="4197096"/>
            <a:ext cx="2057400" cy="621792"/>
          </a:xfrm>
          <a:prstGeom prst="roundRect">
            <a:avLst/>
          </a:prstGeom>
          <a:solidFill>
            <a:srgbClr val="15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361688"/>
            <a:ext cx="1783080" cy="228600"/>
          </a:xfrm>
          <a:prstGeom prst="rect">
            <a:avLst/>
          </a:prstGeom>
          <a:noFill/>
        </p:spPr>
        <p:txBody>
          <a:bodyPr wrap="square" lIns="36576" rIns="36576" tIns="36576" bIns="36576">
            <a:spAutoFit/>
          </a:bodyPr>
          <a:lstStyle/>
          <a:p>
            <a:pPr>
              <a:spcAft>
                <a:spcPts val="700"/>
              </a:spcAft>
              <a:defRPr sz="1100" b="1">
                <a:solidFill>
                  <a:srgbClr val="F8FAFC"/>
                </a:solidFill>
                <a:latin typeface="Aptos"/>
              </a:defRPr>
            </a:pPr>
            <a:r>
              <a:t>DELIVERY OPERATIONS</a:t>
            </a:r>
          </a:p>
        </p:txBody>
      </p:sp>
      <p:sp>
        <p:nvSpPr>
          <p:cNvPr id="22" name="Rounded Rectangle 21"/>
          <p:cNvSpPr/>
          <p:nvPr/>
        </p:nvSpPr>
        <p:spPr>
          <a:xfrm>
            <a:off x="2971800" y="4197096"/>
            <a:ext cx="8458200" cy="621792"/>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54680" y="4306824"/>
            <a:ext cx="8092440" cy="411480"/>
          </a:xfrm>
          <a:prstGeom prst="rect">
            <a:avLst/>
          </a:prstGeom>
          <a:noFill/>
        </p:spPr>
        <p:txBody>
          <a:bodyPr wrap="square" lIns="36576" rIns="36576" tIns="36576" bIns="36576">
            <a:spAutoFit/>
          </a:bodyPr>
          <a:lstStyle/>
          <a:p>
            <a:pPr>
              <a:spcAft>
                <a:spcPts val="700"/>
              </a:spcAft>
              <a:defRPr sz="1200" b="0">
                <a:solidFill>
                  <a:srgbClr val="1D2B3A"/>
                </a:solidFill>
                <a:latin typeface="Aptos"/>
              </a:defRPr>
            </a:pPr>
            <a:r>
              <a:t>Pilot distance- and prep-time-aware ETA estimates; monitor errors on new deliveries.</a:t>
            </a:r>
          </a:p>
        </p:txBody>
      </p:sp>
      <p:sp>
        <p:nvSpPr>
          <p:cNvPr id="24" name="Rounded Rectangle 23"/>
          <p:cNvSpPr/>
          <p:nvPr/>
        </p:nvSpPr>
        <p:spPr>
          <a:xfrm>
            <a:off x="731520" y="5093208"/>
            <a:ext cx="2057400" cy="621792"/>
          </a:xfrm>
          <a:prstGeom prst="roundRect">
            <a:avLst/>
          </a:prstGeom>
          <a:solidFill>
            <a:srgbClr val="152B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257800"/>
            <a:ext cx="1783080" cy="228600"/>
          </a:xfrm>
          <a:prstGeom prst="rect">
            <a:avLst/>
          </a:prstGeom>
          <a:noFill/>
        </p:spPr>
        <p:txBody>
          <a:bodyPr wrap="square" lIns="36576" rIns="36576" tIns="36576" bIns="36576">
            <a:spAutoFit/>
          </a:bodyPr>
          <a:lstStyle/>
          <a:p>
            <a:pPr>
              <a:spcAft>
                <a:spcPts val="700"/>
              </a:spcAft>
              <a:defRPr sz="1100" b="1">
                <a:solidFill>
                  <a:srgbClr val="F8FAFC"/>
                </a:solidFill>
                <a:latin typeface="Aptos"/>
              </a:defRPr>
            </a:pPr>
            <a:r>
              <a:t>RIDER CAPACITY</a:t>
            </a:r>
          </a:p>
        </p:txBody>
      </p:sp>
      <p:sp>
        <p:nvSpPr>
          <p:cNvPr id="26" name="Rounded Rectangle 25"/>
          <p:cNvSpPr/>
          <p:nvPr/>
        </p:nvSpPr>
        <p:spPr>
          <a:xfrm>
            <a:off x="2971800" y="5093208"/>
            <a:ext cx="8458200" cy="621792"/>
          </a:xfrm>
          <a:prstGeom prst="round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54680" y="5202936"/>
            <a:ext cx="8092440" cy="411480"/>
          </a:xfrm>
          <a:prstGeom prst="rect">
            <a:avLst/>
          </a:prstGeom>
          <a:noFill/>
        </p:spPr>
        <p:txBody>
          <a:bodyPr wrap="square" lIns="36576" rIns="36576" tIns="36576" bIns="36576">
            <a:spAutoFit/>
          </a:bodyPr>
          <a:lstStyle/>
          <a:p>
            <a:pPr>
              <a:spcAft>
                <a:spcPts val="700"/>
              </a:spcAft>
              <a:defRPr sz="1200" b="0">
                <a:solidFill>
                  <a:srgbClr val="1D2B3A"/>
                </a:solidFill>
                <a:latin typeface="Aptos"/>
              </a:defRPr>
            </a:pPr>
            <a:r>
              <a:t>Improve forecasting data and validate against actual demand before using forecasts for shift planning.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28600"/>
          </a:xfrm>
          <a:prstGeom prst="rect">
            <a:avLst/>
          </a:prstGeom>
          <a:noFill/>
        </p:spPr>
        <p:txBody>
          <a:bodyPr wrap="square" lIns="36576" rIns="36576" tIns="36576" bIns="36576">
            <a:spAutoFit/>
          </a:bodyPr>
          <a:lstStyle/>
          <a:p>
            <a:pPr>
              <a:spcAft>
                <a:spcPts val="700"/>
              </a:spcAft>
              <a:defRPr sz="900" b="1">
                <a:solidFill>
                  <a:srgbClr val="19B0A0"/>
                </a:solidFill>
                <a:latin typeface="Aptos"/>
              </a:defRPr>
            </a:pPr>
            <a:r>
              <a:t>UBER EATS • CAPSTONE</a:t>
            </a:r>
          </a:p>
        </p:txBody>
      </p:sp>
      <p:sp>
        <p:nvSpPr>
          <p:cNvPr id="4" name="TextBox 3"/>
          <p:cNvSpPr txBox="1"/>
          <p:nvPr/>
        </p:nvSpPr>
        <p:spPr>
          <a:xfrm>
            <a:off x="502920" y="566928"/>
            <a:ext cx="11155680" cy="566928"/>
          </a:xfrm>
          <a:prstGeom prst="rect">
            <a:avLst/>
          </a:prstGeom>
          <a:noFill/>
        </p:spPr>
        <p:txBody>
          <a:bodyPr wrap="square" lIns="36576" rIns="36576" tIns="36576" bIns="36576">
            <a:spAutoFit/>
          </a:bodyPr>
          <a:lstStyle/>
          <a:p>
            <a:pPr>
              <a:spcAft>
                <a:spcPts val="700"/>
              </a:spcAft>
              <a:defRPr sz="2600" b="1">
                <a:solidFill>
                  <a:srgbClr val="0D1B2E"/>
                </a:solidFill>
                <a:latin typeface="Aptos"/>
              </a:defRPr>
            </a:pPr>
            <a:r>
              <a:t>Limitations &amp; validation required before deployment</a:t>
            </a:r>
          </a:p>
        </p:txBody>
      </p:sp>
      <p:sp>
        <p:nvSpPr>
          <p:cNvPr id="5" name="Rectangle 4"/>
          <p:cNvSpPr/>
          <p:nvPr/>
        </p:nvSpPr>
        <p:spPr>
          <a:xfrm>
            <a:off x="502920" y="1234440"/>
            <a:ext cx="11155680" cy="13716"/>
          </a:xfrm>
          <a:prstGeom prst="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64592"/>
          </a:xfrm>
          <a:prstGeom prst="rect">
            <a:avLst/>
          </a:prstGeom>
          <a:noFill/>
        </p:spPr>
        <p:txBody>
          <a:bodyPr wrap="square" lIns="36576" rIns="36576" tIns="36576" bIns="36576">
            <a:spAutoFit/>
          </a:bodyPr>
          <a:lstStyle/>
          <a:p>
            <a:pPr>
              <a:spcAft>
                <a:spcPts val="700"/>
              </a:spcAft>
              <a:defRPr sz="800" b="0">
                <a:solidFill>
                  <a:srgbClr val="AEBECF"/>
                </a:solidFill>
                <a:latin typeface="Aptos"/>
              </a:defRPr>
            </a:pPr>
            <a:r>
              <a:t>Synthetic demonstration data • Results from supplied project outputs</a:t>
            </a:r>
          </a:p>
        </p:txBody>
      </p:sp>
      <p:sp>
        <p:nvSpPr>
          <p:cNvPr id="7" name="TextBox 6"/>
          <p:cNvSpPr txBox="1"/>
          <p:nvPr/>
        </p:nvSpPr>
        <p:spPr>
          <a:xfrm>
            <a:off x="11064240" y="6473952"/>
            <a:ext cx="594360" cy="182880"/>
          </a:xfrm>
          <a:prstGeom prst="rect">
            <a:avLst/>
          </a:prstGeom>
          <a:noFill/>
        </p:spPr>
        <p:txBody>
          <a:bodyPr wrap="square" lIns="36576" rIns="36576" tIns="36576" bIns="36576">
            <a:spAutoFit/>
          </a:bodyPr>
          <a:lstStyle/>
          <a:p>
            <a:pPr algn="r">
              <a:spcAft>
                <a:spcPts val="700"/>
              </a:spcAft>
              <a:defRPr sz="900" b="1">
                <a:solidFill>
                  <a:srgbClr val="AEBECF"/>
                </a:solidFill>
                <a:latin typeface="Aptos"/>
              </a:defRPr>
            </a:pPr>
            <a:r>
              <a:t>14</a:t>
            </a:r>
          </a:p>
        </p:txBody>
      </p:sp>
      <p:sp>
        <p:nvSpPr>
          <p:cNvPr id="8" name="Rounded Rectangle 7"/>
          <p:cNvSpPr/>
          <p:nvPr/>
        </p:nvSpPr>
        <p:spPr>
          <a:xfrm>
            <a:off x="822960" y="1645920"/>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554480"/>
            <a:ext cx="10469880" cy="676656"/>
          </a:xfrm>
          <a:prstGeom prst="rect">
            <a:avLst/>
          </a:prstGeom>
          <a:noFill/>
        </p:spPr>
        <p:txBody>
          <a:bodyPr wrap="square" lIns="36576" rIns="36576" tIns="36576" bIns="36576">
            <a:spAutoFit/>
          </a:bodyPr>
          <a:lstStyle/>
          <a:p>
            <a:pPr>
              <a:spcAft>
                <a:spcPts val="700"/>
              </a:spcAft>
              <a:defRPr sz="1500" b="0">
                <a:solidFill>
                  <a:srgbClr val="1D2B3A"/>
                </a:solidFill>
                <a:latin typeface="Aptos"/>
              </a:defRPr>
            </a:pPr>
            <a:r>
              <a:t>All records are synthetic; results do not represent actual Uber Eats operations.</a:t>
            </a:r>
          </a:p>
        </p:txBody>
      </p:sp>
      <p:sp>
        <p:nvSpPr>
          <p:cNvPr id="10" name="Rounded Rectangle 9"/>
          <p:cNvSpPr/>
          <p:nvPr/>
        </p:nvSpPr>
        <p:spPr>
          <a:xfrm>
            <a:off x="822960" y="2359152"/>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267712"/>
            <a:ext cx="10469880" cy="676656"/>
          </a:xfrm>
          <a:prstGeom prst="rect">
            <a:avLst/>
          </a:prstGeom>
          <a:noFill/>
        </p:spPr>
        <p:txBody>
          <a:bodyPr wrap="square" lIns="36576" rIns="36576" tIns="36576" bIns="36576">
            <a:spAutoFit/>
          </a:bodyPr>
          <a:lstStyle/>
          <a:p>
            <a:pPr>
              <a:spcAft>
                <a:spcPts val="700"/>
              </a:spcAft>
              <a:defRPr sz="1500" b="0">
                <a:solidFill>
                  <a:srgbClr val="1D2B3A"/>
                </a:solidFill>
                <a:latin typeface="Aptos"/>
              </a:defRPr>
            </a:pPr>
            <a:r>
              <a:t>Sentiment labels are derived from ratings, and repeated review templates likely inflate the 100% test score.</a:t>
            </a:r>
          </a:p>
        </p:txBody>
      </p:sp>
      <p:sp>
        <p:nvSpPr>
          <p:cNvPr id="12" name="Rounded Rectangle 11"/>
          <p:cNvSpPr/>
          <p:nvPr/>
        </p:nvSpPr>
        <p:spPr>
          <a:xfrm>
            <a:off x="822960" y="3072384"/>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2980944"/>
            <a:ext cx="10469880" cy="676656"/>
          </a:xfrm>
          <a:prstGeom prst="rect">
            <a:avLst/>
          </a:prstGeom>
          <a:noFill/>
        </p:spPr>
        <p:txBody>
          <a:bodyPr wrap="square" lIns="36576" rIns="36576" tIns="36576" bIns="36576">
            <a:spAutoFit/>
          </a:bodyPr>
          <a:lstStyle/>
          <a:p>
            <a:pPr>
              <a:spcAft>
                <a:spcPts val="700"/>
              </a:spcAft>
              <a:defRPr sz="1500" b="0">
                <a:solidFill>
                  <a:srgbClr val="1D2B3A"/>
                </a:solidFill>
                <a:latin typeface="Aptos"/>
              </a:defRPr>
            </a:pPr>
            <a:r>
              <a:t>Customer segment 3 has a suspicious frequency statistic relative to its order count; verify feature calculation.</a:t>
            </a:r>
          </a:p>
        </p:txBody>
      </p:sp>
      <p:sp>
        <p:nvSpPr>
          <p:cNvPr id="14" name="Rounded Rectangle 13"/>
          <p:cNvSpPr/>
          <p:nvPr/>
        </p:nvSpPr>
        <p:spPr>
          <a:xfrm>
            <a:off x="822960" y="3785615"/>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10469880" cy="676656"/>
          </a:xfrm>
          <a:prstGeom prst="rect">
            <a:avLst/>
          </a:prstGeom>
          <a:noFill/>
        </p:spPr>
        <p:txBody>
          <a:bodyPr wrap="square" lIns="36576" rIns="36576" tIns="36576" bIns="36576">
            <a:spAutoFit/>
          </a:bodyPr>
          <a:lstStyle/>
          <a:p>
            <a:pPr>
              <a:spcAft>
                <a:spcPts val="700"/>
              </a:spcAft>
              <a:defRPr sz="1500" b="0">
                <a:solidFill>
                  <a:srgbClr val="1D2B3A"/>
                </a:solidFill>
                <a:latin typeface="Aptos"/>
              </a:defRPr>
            </a:pPr>
            <a:r>
              <a:t>Forecast MAPE is high and future hourly predictions are almost constant; improve series coverage and model diagnostics.</a:t>
            </a:r>
          </a:p>
        </p:txBody>
      </p:sp>
      <p:sp>
        <p:nvSpPr>
          <p:cNvPr id="16" name="Rounded Rectangle 15"/>
          <p:cNvSpPr/>
          <p:nvPr/>
        </p:nvSpPr>
        <p:spPr>
          <a:xfrm>
            <a:off x="822960" y="4498848"/>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4407408"/>
            <a:ext cx="10469880" cy="676656"/>
          </a:xfrm>
          <a:prstGeom prst="rect">
            <a:avLst/>
          </a:prstGeom>
          <a:noFill/>
        </p:spPr>
        <p:txBody>
          <a:bodyPr wrap="square" lIns="36576" rIns="36576" tIns="36576" bIns="36576">
            <a:spAutoFit/>
          </a:bodyPr>
          <a:lstStyle/>
          <a:p>
            <a:pPr>
              <a:spcAft>
                <a:spcPts val="700"/>
              </a:spcAft>
              <a:defRPr sz="1500" b="0">
                <a:solidFill>
                  <a:srgbClr val="1D2B3A"/>
                </a:solidFill>
                <a:latin typeface="Aptos"/>
              </a:defRPr>
            </a:pPr>
            <a:r>
              <a:t>Feature importance and correlations do not establish causality.</a:t>
            </a:r>
          </a:p>
        </p:txBody>
      </p:sp>
      <p:sp>
        <p:nvSpPr>
          <p:cNvPr id="18" name="Rounded Rectangle 17"/>
          <p:cNvSpPr/>
          <p:nvPr/>
        </p:nvSpPr>
        <p:spPr>
          <a:xfrm>
            <a:off x="822960" y="5212080"/>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5120640"/>
            <a:ext cx="10469880" cy="676656"/>
          </a:xfrm>
          <a:prstGeom prst="rect">
            <a:avLst/>
          </a:prstGeom>
          <a:noFill/>
        </p:spPr>
        <p:txBody>
          <a:bodyPr wrap="square" lIns="36576" rIns="36576" tIns="36576" bIns="36576">
            <a:spAutoFit/>
          </a:bodyPr>
          <a:lstStyle/>
          <a:p>
            <a:pPr>
              <a:spcAft>
                <a:spcPts val="700"/>
              </a:spcAft>
              <a:defRPr sz="1500" b="0">
                <a:solidFill>
                  <a:srgbClr val="1D2B3A"/>
                </a:solidFill>
                <a:latin typeface="Aptos"/>
              </a:defRPr>
            </a:pPr>
            <a:r>
              <a:t>Tip prediction is not included as a separately trained and evaluated model.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28600"/>
            <a:ext cx="10972800" cy="228600"/>
          </a:xfrm>
          <a:prstGeom prst="rect">
            <a:avLst/>
          </a:prstGeom>
          <a:noFill/>
        </p:spPr>
        <p:txBody>
          <a:bodyPr wrap="square" lIns="36576" rIns="36576" tIns="36576" bIns="36576">
            <a:spAutoFit/>
          </a:bodyPr>
          <a:lstStyle/>
          <a:p>
            <a:pPr>
              <a:spcAft>
                <a:spcPts val="700"/>
              </a:spcAft>
              <a:defRPr sz="900" b="1">
                <a:solidFill>
                  <a:srgbClr val="19B0A0"/>
                </a:solidFill>
                <a:latin typeface="Aptos"/>
              </a:defRPr>
            </a:pPr>
            <a:r>
              <a:t>UBER EATS • CAPSTONE</a:t>
            </a:r>
          </a:p>
        </p:txBody>
      </p:sp>
      <p:sp>
        <p:nvSpPr>
          <p:cNvPr id="4" name="TextBox 3"/>
          <p:cNvSpPr txBox="1"/>
          <p:nvPr/>
        </p:nvSpPr>
        <p:spPr>
          <a:xfrm>
            <a:off x="502920" y="566928"/>
            <a:ext cx="11155680" cy="566928"/>
          </a:xfrm>
          <a:prstGeom prst="rect">
            <a:avLst/>
          </a:prstGeom>
          <a:noFill/>
        </p:spPr>
        <p:txBody>
          <a:bodyPr wrap="square" lIns="36576" rIns="36576" tIns="36576" bIns="36576">
            <a:spAutoFit/>
          </a:bodyPr>
          <a:lstStyle/>
          <a:p>
            <a:pPr>
              <a:spcAft>
                <a:spcPts val="700"/>
              </a:spcAft>
              <a:defRPr sz="2600" b="1">
                <a:solidFill>
                  <a:srgbClr val="0D1B2E"/>
                </a:solidFill>
                <a:latin typeface="Aptos"/>
              </a:defRPr>
            </a:pPr>
            <a:r>
              <a:t>Future scope: from proof of concept to robust solution</a:t>
            </a:r>
          </a:p>
        </p:txBody>
      </p:sp>
      <p:sp>
        <p:nvSpPr>
          <p:cNvPr id="5" name="Rectangle 4"/>
          <p:cNvSpPr/>
          <p:nvPr/>
        </p:nvSpPr>
        <p:spPr>
          <a:xfrm>
            <a:off x="502920" y="1234440"/>
            <a:ext cx="11155680" cy="13716"/>
          </a:xfrm>
          <a:prstGeom prst="rect">
            <a:avLst/>
          </a:prstGeom>
          <a:solidFill>
            <a:srgbClr val="EBF2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10528"/>
            <a:ext cx="8229600" cy="164592"/>
          </a:xfrm>
          <a:prstGeom prst="rect">
            <a:avLst/>
          </a:prstGeom>
          <a:noFill/>
        </p:spPr>
        <p:txBody>
          <a:bodyPr wrap="square" lIns="36576" rIns="36576" tIns="36576" bIns="36576">
            <a:spAutoFit/>
          </a:bodyPr>
          <a:lstStyle/>
          <a:p>
            <a:pPr>
              <a:spcAft>
                <a:spcPts val="700"/>
              </a:spcAft>
              <a:defRPr sz="800" b="0">
                <a:solidFill>
                  <a:srgbClr val="AEBECF"/>
                </a:solidFill>
                <a:latin typeface="Aptos"/>
              </a:defRPr>
            </a:pPr>
            <a:r>
              <a:t>Synthetic demonstration data • Results from supplied project outputs</a:t>
            </a:r>
          </a:p>
        </p:txBody>
      </p:sp>
      <p:sp>
        <p:nvSpPr>
          <p:cNvPr id="7" name="TextBox 6"/>
          <p:cNvSpPr txBox="1"/>
          <p:nvPr/>
        </p:nvSpPr>
        <p:spPr>
          <a:xfrm>
            <a:off x="11064240" y="6473952"/>
            <a:ext cx="594360" cy="182880"/>
          </a:xfrm>
          <a:prstGeom prst="rect">
            <a:avLst/>
          </a:prstGeom>
          <a:noFill/>
        </p:spPr>
        <p:txBody>
          <a:bodyPr wrap="square" lIns="36576" rIns="36576" tIns="36576" bIns="36576">
            <a:spAutoFit/>
          </a:bodyPr>
          <a:lstStyle/>
          <a:p>
            <a:pPr algn="r">
              <a:spcAft>
                <a:spcPts val="700"/>
              </a:spcAft>
              <a:defRPr sz="900" b="1">
                <a:solidFill>
                  <a:srgbClr val="AEBECF"/>
                </a:solidFill>
                <a:latin typeface="Aptos"/>
              </a:defRPr>
            </a:pPr>
            <a:r>
              <a:t>15</a:t>
            </a:r>
          </a:p>
        </p:txBody>
      </p:sp>
      <p:sp>
        <p:nvSpPr>
          <p:cNvPr id="8" name="Rounded Rectangle 7"/>
          <p:cNvSpPr/>
          <p:nvPr/>
        </p:nvSpPr>
        <p:spPr>
          <a:xfrm>
            <a:off x="822960" y="1691640"/>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600200"/>
            <a:ext cx="10287000" cy="786384"/>
          </a:xfrm>
          <a:prstGeom prst="rect">
            <a:avLst/>
          </a:prstGeom>
          <a:noFill/>
        </p:spPr>
        <p:txBody>
          <a:bodyPr wrap="square" lIns="36576" rIns="36576" tIns="36576" bIns="36576">
            <a:spAutoFit/>
          </a:bodyPr>
          <a:lstStyle/>
          <a:p>
            <a:pPr>
              <a:spcAft>
                <a:spcPts val="700"/>
              </a:spcAft>
              <a:defRPr sz="1600" b="0">
                <a:solidFill>
                  <a:srgbClr val="1D2B3A"/>
                </a:solidFill>
                <a:latin typeface="Aptos"/>
              </a:defRPr>
            </a:pPr>
            <a:r>
              <a:t>Replace synthetic records with approved, privacy-protected operational data.</a:t>
            </a:r>
          </a:p>
        </p:txBody>
      </p:sp>
      <p:sp>
        <p:nvSpPr>
          <p:cNvPr id="10" name="Rounded Rectangle 9"/>
          <p:cNvSpPr/>
          <p:nvPr/>
        </p:nvSpPr>
        <p:spPr>
          <a:xfrm>
            <a:off x="822960" y="2514600"/>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423160"/>
            <a:ext cx="10287000" cy="786384"/>
          </a:xfrm>
          <a:prstGeom prst="rect">
            <a:avLst/>
          </a:prstGeom>
          <a:noFill/>
        </p:spPr>
        <p:txBody>
          <a:bodyPr wrap="square" lIns="36576" rIns="36576" tIns="36576" bIns="36576">
            <a:spAutoFit/>
          </a:bodyPr>
          <a:lstStyle/>
          <a:p>
            <a:pPr>
              <a:spcAft>
                <a:spcPts val="700"/>
              </a:spcAft>
              <a:defRPr sz="1600" b="0">
                <a:solidFill>
                  <a:srgbClr val="1D2B3A"/>
                </a:solidFill>
                <a:latin typeface="Aptos"/>
              </a:defRPr>
            </a:pPr>
            <a:r>
              <a:t>Collect diverse reviews and human-annotated sentiment labels; validate with group-aware and time-based splits.</a:t>
            </a:r>
          </a:p>
        </p:txBody>
      </p:sp>
      <p:sp>
        <p:nvSpPr>
          <p:cNvPr id="12" name="Rounded Rectangle 11"/>
          <p:cNvSpPr/>
          <p:nvPr/>
        </p:nvSpPr>
        <p:spPr>
          <a:xfrm>
            <a:off x="822960" y="3337560"/>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33272" y="3246120"/>
            <a:ext cx="10287000" cy="786384"/>
          </a:xfrm>
          <a:prstGeom prst="rect">
            <a:avLst/>
          </a:prstGeom>
          <a:noFill/>
        </p:spPr>
        <p:txBody>
          <a:bodyPr wrap="square" lIns="36576" rIns="36576" tIns="36576" bIns="36576">
            <a:spAutoFit/>
          </a:bodyPr>
          <a:lstStyle/>
          <a:p>
            <a:pPr>
              <a:spcAft>
                <a:spcPts val="700"/>
              </a:spcAft>
              <a:defRPr sz="1600" b="0">
                <a:solidFill>
                  <a:srgbClr val="1D2B3A"/>
                </a:solidFill>
                <a:latin typeface="Aptos"/>
              </a:defRPr>
            </a:pPr>
            <a:r>
              <a:t>Revisit customer features, especially order-frequency calculations; validate cluster stability and business usefulness.</a:t>
            </a:r>
          </a:p>
        </p:txBody>
      </p:sp>
      <p:sp>
        <p:nvSpPr>
          <p:cNvPr id="14" name="Rounded Rectangle 13"/>
          <p:cNvSpPr/>
          <p:nvPr/>
        </p:nvSpPr>
        <p:spPr>
          <a:xfrm>
            <a:off x="822960" y="4160520"/>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4069080"/>
            <a:ext cx="10287000" cy="786384"/>
          </a:xfrm>
          <a:prstGeom prst="rect">
            <a:avLst/>
          </a:prstGeom>
          <a:noFill/>
        </p:spPr>
        <p:txBody>
          <a:bodyPr wrap="square" lIns="36576" rIns="36576" tIns="36576" bIns="36576">
            <a:spAutoFit/>
          </a:bodyPr>
          <a:lstStyle/>
          <a:p>
            <a:pPr>
              <a:spcAft>
                <a:spcPts val="700"/>
              </a:spcAft>
              <a:defRPr sz="1600" b="0">
                <a:solidFill>
                  <a:srgbClr val="1D2B3A"/>
                </a:solidFill>
                <a:latin typeface="Aptos"/>
              </a:defRPr>
            </a:pPr>
            <a:r>
              <a:t>Improve demand forecasting with longer time history, seasonal baselines and rolling-origin backtesting.</a:t>
            </a:r>
          </a:p>
        </p:txBody>
      </p:sp>
      <p:sp>
        <p:nvSpPr>
          <p:cNvPr id="16" name="Rounded Rectangle 15"/>
          <p:cNvSpPr/>
          <p:nvPr/>
        </p:nvSpPr>
        <p:spPr>
          <a:xfrm>
            <a:off x="822960" y="4983479"/>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4892040"/>
            <a:ext cx="10287000" cy="786384"/>
          </a:xfrm>
          <a:prstGeom prst="rect">
            <a:avLst/>
          </a:prstGeom>
          <a:noFill/>
        </p:spPr>
        <p:txBody>
          <a:bodyPr wrap="square" lIns="36576" rIns="36576" tIns="36576" bIns="36576">
            <a:spAutoFit/>
          </a:bodyPr>
          <a:lstStyle/>
          <a:p>
            <a:pPr>
              <a:spcAft>
                <a:spcPts val="700"/>
              </a:spcAft>
              <a:defRPr sz="1600" b="0">
                <a:solidFill>
                  <a:srgbClr val="1D2B3A"/>
                </a:solidFill>
                <a:latin typeface="Aptos"/>
              </a:defRPr>
            </a:pPr>
            <a:r>
              <a:t>Deploy monitored ETA and demand services; track model drift, forecast error and operational impact.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B2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94360"/>
            <a:ext cx="9144000" cy="320040"/>
          </a:xfrm>
          <a:prstGeom prst="rect">
            <a:avLst/>
          </a:prstGeom>
          <a:noFill/>
        </p:spPr>
        <p:txBody>
          <a:bodyPr wrap="square" lIns="36576" rIns="36576" tIns="36576" bIns="36576">
            <a:spAutoFit/>
          </a:bodyPr>
          <a:lstStyle/>
          <a:p>
            <a:pPr>
              <a:spcAft>
                <a:spcPts val="700"/>
              </a:spcAft>
              <a:defRPr sz="1100" b="1">
                <a:solidFill>
                  <a:srgbClr val="19B0A0"/>
                </a:solidFill>
                <a:latin typeface="Aptos"/>
              </a:defRPr>
            </a:pPr>
            <a:r>
              <a:t>CLOSING SUMMARY</a:t>
            </a:r>
          </a:p>
        </p:txBody>
      </p:sp>
      <p:sp>
        <p:nvSpPr>
          <p:cNvPr id="4" name="TextBox 3"/>
          <p:cNvSpPr txBox="1"/>
          <p:nvPr/>
        </p:nvSpPr>
        <p:spPr>
          <a:xfrm>
            <a:off x="731520" y="1188720"/>
            <a:ext cx="10515600" cy="822960"/>
          </a:xfrm>
          <a:prstGeom prst="rect">
            <a:avLst/>
          </a:prstGeom>
          <a:noFill/>
        </p:spPr>
        <p:txBody>
          <a:bodyPr wrap="square" lIns="36576" rIns="36576" tIns="36576" bIns="36576">
            <a:spAutoFit/>
          </a:bodyPr>
          <a:lstStyle/>
          <a:p>
            <a:pPr>
              <a:spcAft>
                <a:spcPts val="700"/>
              </a:spcAft>
              <a:defRPr sz="2800" b="1">
                <a:solidFill>
                  <a:srgbClr val="F8FAFC"/>
                </a:solidFill>
                <a:latin typeface="Aptos"/>
              </a:defRPr>
            </a:pPr>
            <a:r>
              <a:t>A connected analytics workflow—from customer behaviour to operational planning.</a:t>
            </a:r>
          </a:p>
        </p:txBody>
      </p:sp>
      <p:sp>
        <p:nvSpPr>
          <p:cNvPr id="5" name="Rounded Rectangle 4"/>
          <p:cNvSpPr/>
          <p:nvPr/>
        </p:nvSpPr>
        <p:spPr>
          <a:xfrm>
            <a:off x="914400" y="2560320"/>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 y="2468880"/>
            <a:ext cx="9646920" cy="713231"/>
          </a:xfrm>
          <a:prstGeom prst="rect">
            <a:avLst/>
          </a:prstGeom>
          <a:noFill/>
        </p:spPr>
        <p:txBody>
          <a:bodyPr wrap="square" lIns="36576" rIns="36576" tIns="36576" bIns="36576">
            <a:spAutoFit/>
          </a:bodyPr>
          <a:lstStyle/>
          <a:p>
            <a:pPr>
              <a:spcAft>
                <a:spcPts val="700"/>
              </a:spcAft>
              <a:defRPr sz="1700" b="0">
                <a:solidFill>
                  <a:srgbClr val="F8FAFC"/>
                </a:solidFill>
                <a:latin typeface="Aptos"/>
              </a:defRPr>
            </a:pPr>
            <a:r>
              <a:t>Segmentation provides an initial view of customer and restaurant groups.</a:t>
            </a:r>
          </a:p>
        </p:txBody>
      </p:sp>
      <p:sp>
        <p:nvSpPr>
          <p:cNvPr id="7" name="Rounded Rectangle 6"/>
          <p:cNvSpPr/>
          <p:nvPr/>
        </p:nvSpPr>
        <p:spPr>
          <a:xfrm>
            <a:off x="914400" y="3310128"/>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24712" y="3218688"/>
            <a:ext cx="9646920" cy="713231"/>
          </a:xfrm>
          <a:prstGeom prst="rect">
            <a:avLst/>
          </a:prstGeom>
          <a:noFill/>
        </p:spPr>
        <p:txBody>
          <a:bodyPr wrap="square" lIns="36576" rIns="36576" tIns="36576" bIns="36576">
            <a:spAutoFit/>
          </a:bodyPr>
          <a:lstStyle/>
          <a:p>
            <a:pPr>
              <a:spcAft>
                <a:spcPts val="700"/>
              </a:spcAft>
              <a:defRPr sz="1700" b="0">
                <a:solidFill>
                  <a:srgbClr val="F8FAFC"/>
                </a:solidFill>
                <a:latin typeface="Aptos"/>
              </a:defRPr>
            </a:pPr>
            <a:r>
              <a:t>Delivery-time regression shows promising synthetic test performance (Ridge MAE 3.94 min).</a:t>
            </a:r>
          </a:p>
        </p:txBody>
      </p:sp>
      <p:sp>
        <p:nvSpPr>
          <p:cNvPr id="9" name="Rounded Rectangle 8"/>
          <p:cNvSpPr/>
          <p:nvPr/>
        </p:nvSpPr>
        <p:spPr>
          <a:xfrm>
            <a:off x="914400" y="4059935"/>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24712" y="3968496"/>
            <a:ext cx="9646920" cy="713231"/>
          </a:xfrm>
          <a:prstGeom prst="rect">
            <a:avLst/>
          </a:prstGeom>
          <a:noFill/>
        </p:spPr>
        <p:txBody>
          <a:bodyPr wrap="square" lIns="36576" rIns="36576" tIns="36576" bIns="36576">
            <a:spAutoFit/>
          </a:bodyPr>
          <a:lstStyle/>
          <a:p>
            <a:pPr>
              <a:spcAft>
                <a:spcPts val="700"/>
              </a:spcAft>
              <a:defRPr sz="1700" b="0">
                <a:solidFill>
                  <a:srgbClr val="F8FAFC"/>
                </a:solidFill>
                <a:latin typeface="Aptos"/>
              </a:defRPr>
            </a:pPr>
            <a:r>
              <a:t>Sentiment and forecasting results need stronger validation before real-world use.</a:t>
            </a:r>
          </a:p>
        </p:txBody>
      </p:sp>
      <p:sp>
        <p:nvSpPr>
          <p:cNvPr id="11" name="Rounded Rectangle 10"/>
          <p:cNvSpPr/>
          <p:nvPr/>
        </p:nvSpPr>
        <p:spPr>
          <a:xfrm>
            <a:off x="914400" y="4809744"/>
            <a:ext cx="91440" cy="91440"/>
          </a:xfrm>
          <a:prstGeom prst="roundRect">
            <a:avLst/>
          </a:prstGeom>
          <a:solidFill>
            <a:srgbClr val="19B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24712" y="4718304"/>
            <a:ext cx="9646920" cy="713231"/>
          </a:xfrm>
          <a:prstGeom prst="rect">
            <a:avLst/>
          </a:prstGeom>
          <a:noFill/>
        </p:spPr>
        <p:txBody>
          <a:bodyPr wrap="square" lIns="36576" rIns="36576" tIns="36576" bIns="36576">
            <a:spAutoFit/>
          </a:bodyPr>
          <a:lstStyle/>
          <a:p>
            <a:pPr>
              <a:spcAft>
                <a:spcPts val="700"/>
              </a:spcAft>
              <a:defRPr sz="1700" b="0">
                <a:solidFill>
                  <a:srgbClr val="F8FAFC"/>
                </a:solidFill>
                <a:latin typeface="Aptos"/>
              </a:defRPr>
            </a:pPr>
            <a:r>
              <a:t>Business value comes from testing recommendations against real operational outcomes.</a:t>
            </a:r>
          </a:p>
        </p:txBody>
      </p:sp>
      <p:sp>
        <p:nvSpPr>
          <p:cNvPr id="13" name="TextBox 12"/>
          <p:cNvSpPr txBox="1"/>
          <p:nvPr/>
        </p:nvSpPr>
        <p:spPr>
          <a:xfrm>
            <a:off x="822960" y="5989320"/>
            <a:ext cx="10058400" cy="411480"/>
          </a:xfrm>
          <a:prstGeom prst="rect">
            <a:avLst/>
          </a:prstGeom>
          <a:noFill/>
        </p:spPr>
        <p:txBody>
          <a:bodyPr wrap="square" lIns="36576" rIns="36576" tIns="36576" bIns="36576">
            <a:spAutoFit/>
          </a:bodyPr>
          <a:lstStyle/>
          <a:p>
            <a:pPr>
              <a:spcAft>
                <a:spcPts val="700"/>
              </a:spcAft>
              <a:defRPr sz="1800" b="1">
                <a:solidFill>
                  <a:srgbClr val="19B0A0"/>
                </a:solidFill>
                <a:latin typeface="Aptos"/>
              </a:defRPr>
            </a:pPr>
            <a: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